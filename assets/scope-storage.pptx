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>
  <p:sldMasterIdLst>
    <p:sldMasterId id="2147483648" r:id="rId1"/>
  </p:sldMasterIdLst>
  <p:notesMasterIdLst>
    <p:notesMasterId r:id="rId4"/>
  </p:notesMasterIdLst>
  <p:handoutMasterIdLst>
    <p:handoutMasterId r:id="rId27"/>
  </p:handoutMasterIdLst>
  <p:sldIdLst>
    <p:sldId id="310" r:id="rId3"/>
    <p:sldId id="282" r:id="rId5"/>
    <p:sldId id="316" r:id="rId6"/>
    <p:sldId id="317" r:id="rId7"/>
    <p:sldId id="318" r:id="rId8"/>
    <p:sldId id="319" r:id="rId9"/>
    <p:sldId id="320" r:id="rId10"/>
    <p:sldId id="321" r:id="rId11"/>
    <p:sldId id="322" r:id="rId12"/>
    <p:sldId id="323" r:id="rId13"/>
    <p:sldId id="324" r:id="rId14"/>
    <p:sldId id="325" r:id="rId15"/>
    <p:sldId id="326" r:id="rId16"/>
    <p:sldId id="337" r:id="rId17"/>
    <p:sldId id="338" r:id="rId18"/>
    <p:sldId id="327" r:id="rId19"/>
    <p:sldId id="334" r:id="rId20"/>
    <p:sldId id="328" r:id="rId21"/>
    <p:sldId id="329" r:id="rId22"/>
    <p:sldId id="331" r:id="rId23"/>
    <p:sldId id="339" r:id="rId24"/>
    <p:sldId id="330" r:id="rId25"/>
    <p:sldId id="336" r:id="rId26"/>
  </p:sldIdLst>
  <p:sldSz cx="11520170" cy="6480175"/>
  <p:notesSz cx="6858000" cy="9144000"/>
  <p:defaultTextStyle>
    <a:defPPr marL="0" marR="0" indent="0" algn="l" defTabSz="456565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9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412115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5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 panose="02000503000000020004"/>
        <a:ea typeface="Helvetica Neue" panose="02000503000000020004"/>
        <a:cs typeface="Helvetica Neue" panose="02000503000000020004"/>
        <a:sym typeface="Helvetica Neue" panose="02000503000000020004"/>
      </a:defRPr>
    </a:lvl1pPr>
    <a:lvl2pPr marL="0" marR="0" indent="114300" algn="ctr" defTabSz="412115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5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 panose="02000503000000020004"/>
        <a:ea typeface="Helvetica Neue" panose="02000503000000020004"/>
        <a:cs typeface="Helvetica Neue" panose="02000503000000020004"/>
        <a:sym typeface="Helvetica Neue" panose="02000503000000020004"/>
      </a:defRPr>
    </a:lvl2pPr>
    <a:lvl3pPr marL="0" marR="0" indent="228600" algn="ctr" defTabSz="412115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5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 panose="02000503000000020004"/>
        <a:ea typeface="Helvetica Neue" panose="02000503000000020004"/>
        <a:cs typeface="Helvetica Neue" panose="02000503000000020004"/>
        <a:sym typeface="Helvetica Neue" panose="02000503000000020004"/>
      </a:defRPr>
    </a:lvl3pPr>
    <a:lvl4pPr marL="0" marR="0" indent="342900" algn="ctr" defTabSz="412115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5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 panose="02000503000000020004"/>
        <a:ea typeface="Helvetica Neue" panose="02000503000000020004"/>
        <a:cs typeface="Helvetica Neue" panose="02000503000000020004"/>
        <a:sym typeface="Helvetica Neue" panose="02000503000000020004"/>
      </a:defRPr>
    </a:lvl4pPr>
    <a:lvl5pPr marL="0" marR="0" indent="457200" algn="ctr" defTabSz="412115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5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 panose="02000503000000020004"/>
        <a:ea typeface="Helvetica Neue" panose="02000503000000020004"/>
        <a:cs typeface="Helvetica Neue" panose="02000503000000020004"/>
        <a:sym typeface="Helvetica Neue" panose="02000503000000020004"/>
      </a:defRPr>
    </a:lvl5pPr>
    <a:lvl6pPr marL="0" marR="0" indent="571500" algn="ctr" defTabSz="412115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5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 panose="02000503000000020004"/>
        <a:ea typeface="Helvetica Neue" panose="02000503000000020004"/>
        <a:cs typeface="Helvetica Neue" panose="02000503000000020004"/>
        <a:sym typeface="Helvetica Neue" panose="02000503000000020004"/>
      </a:defRPr>
    </a:lvl6pPr>
    <a:lvl7pPr marL="0" marR="0" indent="685800" algn="ctr" defTabSz="412115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5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 panose="02000503000000020004"/>
        <a:ea typeface="Helvetica Neue" panose="02000503000000020004"/>
        <a:cs typeface="Helvetica Neue" panose="02000503000000020004"/>
        <a:sym typeface="Helvetica Neue" panose="02000503000000020004"/>
      </a:defRPr>
    </a:lvl7pPr>
    <a:lvl8pPr marL="0" marR="0" indent="800100" algn="ctr" defTabSz="412115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5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 panose="02000503000000020004"/>
        <a:ea typeface="Helvetica Neue" panose="02000503000000020004"/>
        <a:cs typeface="Helvetica Neue" panose="02000503000000020004"/>
        <a:sym typeface="Helvetica Neue" panose="02000503000000020004"/>
      </a:defRPr>
    </a:lvl8pPr>
    <a:lvl9pPr marL="0" marR="0" indent="914400" algn="ctr" defTabSz="412115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5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 panose="02000503000000020004"/>
        <a:ea typeface="Helvetica Neue" panose="02000503000000020004"/>
        <a:cs typeface="Helvetica Neue" panose="02000503000000020004"/>
        <a:sym typeface="Helvetica Neue" panose="02000503000000020004"/>
      </a:defRPr>
    </a:lvl9pPr>
  </p:defaultTextStyle>
  <p:modifyVerifier cryptProviderType="rsaFull" cryptAlgorithmClass="hash" cryptAlgorithmType="typeAny" cryptAlgorithmSid="4" spinCount="100000" saltData="k+eapkZsSu5e+w3POuw3tw==" hashData="2hs5H4BRMmGC/l0ljhj56AOnSOw="/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inchao, WU(R&amp;D ROM ROM SWD-SZ-TCT)" initials="JWRRS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3E33"/>
    <a:srgbClr val="F08001"/>
    <a:srgbClr val="0364AF"/>
    <a:srgbClr val="05A0B4"/>
    <a:srgbClr val="DC3C32"/>
    <a:srgbClr val="D9DAD9"/>
    <a:srgbClr val="D14A4A"/>
    <a:srgbClr val="E48A7E"/>
    <a:srgbClr val="E50012"/>
    <a:srgbClr val="BC47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015" autoAdjust="0"/>
    <p:restoredTop sz="94686"/>
  </p:normalViewPr>
  <p:slideViewPr>
    <p:cSldViewPr snapToGrid="0" snapToObjects="1">
      <p:cViewPr varScale="1">
        <p:scale>
          <a:sx n="88" d="100"/>
          <a:sy n="88" d="100"/>
        </p:scale>
        <p:origin x="1032" y="90"/>
      </p:cViewPr>
      <p:guideLst>
        <p:guide orient="horz" pos="2070"/>
        <p:guide pos="3656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52" d="100"/>
        <a:sy n="152" d="100"/>
      </p:scale>
      <p:origin x="0" y="4288"/>
    </p:cViewPr>
  </p:sorterViewPr>
  <p:notesViewPr>
    <p:cSldViewPr snapToGrid="0" snapToObjects="1">
      <p:cViewPr varScale="1">
        <p:scale>
          <a:sx n="110" d="100"/>
          <a:sy n="110" d="100"/>
        </p:scale>
        <p:origin x="4352" y="16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1" Type="http://schemas.openxmlformats.org/officeDocument/2006/relationships/commentAuthors" Target="commentAuthors.xml"/><Relationship Id="rId30" Type="http://schemas.openxmlformats.org/officeDocument/2006/relationships/tableStyles" Target="tableStyles.xml"/><Relationship Id="rId3" Type="http://schemas.openxmlformats.org/officeDocument/2006/relationships/slide" Target="slides/slide1.xml"/><Relationship Id="rId29" Type="http://schemas.openxmlformats.org/officeDocument/2006/relationships/viewProps" Target="viewProps.xml"/><Relationship Id="rId28" Type="http://schemas.openxmlformats.org/officeDocument/2006/relationships/presProps" Target="presProps.xml"/><Relationship Id="rId27" Type="http://schemas.openxmlformats.org/officeDocument/2006/relationships/handoutMaster" Target="handoutMasters/handoutMaster1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5" name="幻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EFE889-57E1-264B-B934-285A8336C86F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日期占位符 5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FB2056-3F78-EC4D-9E7F-852E522C4545}" type="datetimeFigureOut">
              <a:rPr kumimoji="1" lang="zh-CN" altLang="en-US" smtClean="0"/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hape 116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  <p:sp>
        <p:nvSpPr>
          <p:cNvPr id="117" name="Shape 117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defTabSz="227965" latinLnBrk="0">
      <a:lnSpc>
        <a:spcPct val="118000"/>
      </a:lnSpc>
      <a:defRPr sz="1100">
        <a:latin typeface="Helvetica Neue" panose="02000503000000020004"/>
        <a:ea typeface="Helvetica Neue" panose="02000503000000020004"/>
        <a:cs typeface="Helvetica Neue" panose="02000503000000020004"/>
        <a:sym typeface="Helvetica Neue" panose="02000503000000020004"/>
      </a:defRPr>
    </a:lvl1pPr>
    <a:lvl2pPr indent="114300" defTabSz="227965" latinLnBrk="0">
      <a:lnSpc>
        <a:spcPct val="118000"/>
      </a:lnSpc>
      <a:defRPr sz="1100">
        <a:latin typeface="Helvetica Neue" panose="02000503000000020004"/>
        <a:ea typeface="Helvetica Neue" panose="02000503000000020004"/>
        <a:cs typeface="Helvetica Neue" panose="02000503000000020004"/>
        <a:sym typeface="Helvetica Neue" panose="02000503000000020004"/>
      </a:defRPr>
    </a:lvl2pPr>
    <a:lvl3pPr indent="228600" defTabSz="227965" latinLnBrk="0">
      <a:lnSpc>
        <a:spcPct val="118000"/>
      </a:lnSpc>
      <a:defRPr sz="1100">
        <a:latin typeface="Helvetica Neue" panose="02000503000000020004"/>
        <a:ea typeface="Helvetica Neue" panose="02000503000000020004"/>
        <a:cs typeface="Helvetica Neue" panose="02000503000000020004"/>
        <a:sym typeface="Helvetica Neue" panose="02000503000000020004"/>
      </a:defRPr>
    </a:lvl3pPr>
    <a:lvl4pPr indent="342900" defTabSz="227965" latinLnBrk="0">
      <a:lnSpc>
        <a:spcPct val="118000"/>
      </a:lnSpc>
      <a:defRPr sz="1100">
        <a:latin typeface="Helvetica Neue" panose="02000503000000020004"/>
        <a:ea typeface="Helvetica Neue" panose="02000503000000020004"/>
        <a:cs typeface="Helvetica Neue" panose="02000503000000020004"/>
        <a:sym typeface="Helvetica Neue" panose="02000503000000020004"/>
      </a:defRPr>
    </a:lvl4pPr>
    <a:lvl5pPr indent="457200" defTabSz="227965" latinLnBrk="0">
      <a:lnSpc>
        <a:spcPct val="118000"/>
      </a:lnSpc>
      <a:defRPr sz="1100">
        <a:latin typeface="Helvetica Neue" panose="02000503000000020004"/>
        <a:ea typeface="Helvetica Neue" panose="02000503000000020004"/>
        <a:cs typeface="Helvetica Neue" panose="02000503000000020004"/>
        <a:sym typeface="Helvetica Neue" panose="02000503000000020004"/>
      </a:defRPr>
    </a:lvl5pPr>
    <a:lvl6pPr indent="571500" defTabSz="227965" latinLnBrk="0">
      <a:lnSpc>
        <a:spcPct val="118000"/>
      </a:lnSpc>
      <a:defRPr sz="1100">
        <a:latin typeface="Helvetica Neue" panose="02000503000000020004"/>
        <a:ea typeface="Helvetica Neue" panose="02000503000000020004"/>
        <a:cs typeface="Helvetica Neue" panose="02000503000000020004"/>
        <a:sym typeface="Helvetica Neue" panose="02000503000000020004"/>
      </a:defRPr>
    </a:lvl6pPr>
    <a:lvl7pPr indent="685800" defTabSz="227965" latinLnBrk="0">
      <a:lnSpc>
        <a:spcPct val="118000"/>
      </a:lnSpc>
      <a:defRPr sz="1100">
        <a:latin typeface="Helvetica Neue" panose="02000503000000020004"/>
        <a:ea typeface="Helvetica Neue" panose="02000503000000020004"/>
        <a:cs typeface="Helvetica Neue" panose="02000503000000020004"/>
        <a:sym typeface="Helvetica Neue" panose="02000503000000020004"/>
      </a:defRPr>
    </a:lvl7pPr>
    <a:lvl8pPr indent="800100" defTabSz="227965" latinLnBrk="0">
      <a:lnSpc>
        <a:spcPct val="118000"/>
      </a:lnSpc>
      <a:defRPr sz="1100">
        <a:latin typeface="Helvetica Neue" panose="02000503000000020004"/>
        <a:ea typeface="Helvetica Neue" panose="02000503000000020004"/>
        <a:cs typeface="Helvetica Neue" panose="02000503000000020004"/>
        <a:sym typeface="Helvetica Neue" panose="02000503000000020004"/>
      </a:defRPr>
    </a:lvl8pPr>
    <a:lvl9pPr indent="914400" defTabSz="227965" latinLnBrk="0">
      <a:lnSpc>
        <a:spcPct val="118000"/>
      </a:lnSpc>
      <a:defRPr sz="1100">
        <a:latin typeface="Helvetica Neue" panose="02000503000000020004"/>
        <a:ea typeface="Helvetica Neue" panose="02000503000000020004"/>
        <a:cs typeface="Helvetica Neue" panose="02000503000000020004"/>
        <a:sym typeface="Helvetica Neue" panose="020005030000000200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0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多年来，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凭借领先的经营管理与创新的科技产品，</a:t>
            </a:r>
            <a:r>
              <a:rPr lang="en-US" altLang="zh-CN" sz="2400" b="0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TCL</a:t>
            </a:r>
            <a:r>
              <a:rPr lang="zh-CN" altLang="en-US" sz="2400" b="0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在全球市场的布局和产品销量都实现了持续增长，并取得了一系列令人瞩目的成就。</a:t>
            </a:r>
            <a:endParaRPr lang="zh-CN" altLang="en-US" sz="2400" b="0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endParaRPr kumimoji="1" lang="zh-CN" alt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0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多年来，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凭借领先的经营管理与创新的科技产品，</a:t>
            </a:r>
            <a:r>
              <a:rPr lang="en-US" altLang="zh-CN" sz="2400" b="0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TCL</a:t>
            </a:r>
            <a:r>
              <a:rPr lang="zh-CN" altLang="en-US" sz="2400" b="0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在全球市场的布局和产品销量都实现了持续增长，并取得了一系列令人瞩目的成就。</a:t>
            </a:r>
            <a:endParaRPr lang="zh-CN" altLang="en-US" sz="2400" b="0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endParaRPr kumimoji="1" lang="zh-CN" alt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0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多年来，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凭借领先的经营管理与创新的科技产品，</a:t>
            </a:r>
            <a:r>
              <a:rPr lang="en-US" altLang="zh-CN" sz="2400" b="0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TCL</a:t>
            </a:r>
            <a:r>
              <a:rPr lang="zh-CN" altLang="en-US" sz="2400" b="0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在全球市场的布局和产品销量都实现了持续增长，并取得了一系列令人瞩目的成就。</a:t>
            </a:r>
            <a:endParaRPr lang="zh-CN" altLang="en-US" sz="2400" b="0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endParaRPr kumimoji="1" lang="zh-CN" alt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2400" b="0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endParaRPr kumimoji="1" lang="zh-CN" altLang="en-US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2400" b="0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endParaRPr kumimoji="1" lang="zh-CN" altLang="en-US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2400" b="0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endParaRPr kumimoji="1" lang="zh-CN" alt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2400" b="0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endParaRPr kumimoji="1" lang="zh-CN" altLang="en-US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2400" b="0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endParaRPr kumimoji="1" lang="zh-CN" altLang="en-US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0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多年来，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凭借领先的经营管理与创新的科技产品，</a:t>
            </a:r>
            <a:r>
              <a:rPr lang="en-US" altLang="zh-CN" sz="2400" b="0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TCL</a:t>
            </a:r>
            <a:r>
              <a:rPr lang="zh-CN" altLang="en-US" sz="2400" b="0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在全球市场的布局和产品销量都实现了持续增长，并取得了一系列令人瞩目的成就。</a:t>
            </a:r>
            <a:endParaRPr lang="zh-CN" altLang="en-US" sz="2400" b="0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endParaRPr kumimoji="1" lang="zh-CN" altLang="en-US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2400" b="0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endParaRPr kumimoji="1" lang="zh-CN" altLang="en-US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2400" b="0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endParaRPr kumimoji="1" lang="zh-CN" altLang="en-US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2400" b="0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endParaRPr kumimoji="1" lang="zh-CN" altLang="en-US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2400" b="0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endParaRPr kumimoji="1" lang="zh-CN" altLang="en-US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2400" b="0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endParaRPr kumimoji="1" lang="zh-CN" altLang="en-US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2400" b="0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endParaRPr kumimoji="1" lang="zh-CN" altLang="en-US"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2400" b="0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endParaRPr kumimoji="1" lang="zh-CN" altLang="en-US"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2400" b="0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endParaRPr kumimoji="1" lang="zh-CN" altLang="en-US"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2400" b="0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endParaRPr kumimoji="1" lang="zh-CN" alt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5" Type="http://schemas.openxmlformats.org/officeDocument/2006/relationships/image" Target="../media/image3.png"/><Relationship Id="rId4" Type="http://schemas.openxmlformats.org/officeDocument/2006/relationships/image" Target="../media/image1.png"/><Relationship Id="rId3" Type="http://schemas.openxmlformats.org/officeDocument/2006/relationships/image" Target="../media/image5.png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标题与项目符号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圆形"/>
          <p:cNvSpPr/>
          <p:nvPr userDrawn="1"/>
        </p:nvSpPr>
        <p:spPr>
          <a:xfrm>
            <a:off x="304232" y="1179870"/>
            <a:ext cx="4629746" cy="4693645"/>
          </a:xfrm>
          <a:prstGeom prst="ellipse">
            <a:avLst/>
          </a:prstGeom>
          <a:blipFill>
            <a:blip r:embed="rId2" cstate="print"/>
            <a:srcRect/>
            <a:stretch>
              <a:fillRect l="-27358" t="-13404" r="-524" b="-4060"/>
            </a:stretch>
          </a:blip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510" dirty="0">
              <a:latin typeface="Microsoft YaHei" charset="-122"/>
              <a:ea typeface="Microsoft YaHei" charset="-122"/>
              <a:cs typeface="Microsoft YaHei" charset="-122"/>
            </a:endParaRPr>
          </a:p>
        </p:txBody>
      </p:sp>
      <p:sp>
        <p:nvSpPr>
          <p:cNvPr id="11" name="圆形"/>
          <p:cNvSpPr/>
          <p:nvPr userDrawn="1"/>
        </p:nvSpPr>
        <p:spPr>
          <a:xfrm>
            <a:off x="3423034" y="2357350"/>
            <a:ext cx="2841994" cy="2881218"/>
          </a:xfrm>
          <a:prstGeom prst="ellipse">
            <a:avLst/>
          </a:prstGeom>
          <a:solidFill>
            <a:srgbClr val="DC3E33">
              <a:alpha val="60000"/>
            </a:srgb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1510" dirty="0">
              <a:solidFill>
                <a:schemeClr val="tx2">
                  <a:lumMod val="60000"/>
                  <a:lumOff val="40000"/>
                </a:schemeClr>
              </a:solidFill>
              <a:latin typeface="Microsoft YaHei" charset="-122"/>
              <a:ea typeface="Microsoft YaHei" charset="-122"/>
              <a:cs typeface="Microsoft YaHei" charset="-122"/>
            </a:endParaRPr>
          </a:p>
        </p:txBody>
      </p:sp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164" y="239509"/>
            <a:ext cx="1730597" cy="812543"/>
          </a:xfrm>
          <a:prstGeom prst="rect">
            <a:avLst/>
          </a:prstGeom>
        </p:spPr>
      </p:pic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与项目符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任意形状 13"/>
          <p:cNvSpPr/>
          <p:nvPr userDrawn="1"/>
        </p:nvSpPr>
        <p:spPr>
          <a:xfrm>
            <a:off x="2" y="211792"/>
            <a:ext cx="264159" cy="542003"/>
          </a:xfrm>
          <a:custGeom>
            <a:avLst/>
            <a:gdLst>
              <a:gd name="connsiteX0" fmla="*/ 0 w 573604"/>
              <a:gd name="connsiteY0" fmla="*/ 0 h 1147208"/>
              <a:gd name="connsiteX1" fmla="*/ 573604 w 573604"/>
              <a:gd name="connsiteY1" fmla="*/ 573604 h 1147208"/>
              <a:gd name="connsiteX2" fmla="*/ 0 w 573604"/>
              <a:gd name="connsiteY2" fmla="*/ 1147208 h 114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73604" h="1147208">
                <a:moveTo>
                  <a:pt x="0" y="0"/>
                </a:moveTo>
                <a:cubicBezTo>
                  <a:pt x="316793" y="0"/>
                  <a:pt x="573604" y="256811"/>
                  <a:pt x="573604" y="573604"/>
                </a:cubicBezTo>
                <a:cubicBezTo>
                  <a:pt x="573604" y="890397"/>
                  <a:pt x="316793" y="1147208"/>
                  <a:pt x="0" y="1147208"/>
                </a:cubicBezTo>
                <a:close/>
              </a:path>
            </a:pathLst>
          </a:custGeom>
          <a:solidFill>
            <a:srgbClr val="DC3E33">
              <a:alpha val="69804"/>
            </a:srgbClr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fromWordArt="0" anchor="ctr" anchorCtr="0" forceAA="0" compatLnSpc="1">
            <a:noAutofit/>
          </a:bodyPr>
          <a:lstStyle/>
          <a:p>
            <a:endParaRPr lang="zh-CN" altLang="en-US" sz="1510" b="0">
              <a:solidFill>
                <a:schemeClr val="tx1">
                  <a:lumMod val="65000"/>
                  <a:lumOff val="35000"/>
                </a:schemeClr>
              </a:solidFill>
              <a:latin typeface="Microsoft YaHei" charset="-122"/>
              <a:ea typeface="Microsoft YaHei" charset="-122"/>
              <a:cs typeface="Microsoft YaHei" charset="-122"/>
              <a:sym typeface="Helvetica Neue Medium"/>
            </a:endParaRPr>
          </a:p>
        </p:txBody>
      </p:sp>
      <p:pic>
        <p:nvPicPr>
          <p:cNvPr id="15" name="图片 1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0244" y="198397"/>
            <a:ext cx="1252743" cy="588183"/>
          </a:xfrm>
          <a:prstGeom prst="rect">
            <a:avLst/>
          </a:prstGeom>
        </p:spPr>
      </p:pic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21" name="幻灯片编号占位符 12"/>
          <p:cNvSpPr>
            <a:spLocks noGrp="1"/>
          </p:cNvSpPr>
          <p:nvPr>
            <p:ph type="sldNum" sz="quarter" idx="4"/>
          </p:nvPr>
        </p:nvSpPr>
        <p:spPr>
          <a:xfrm>
            <a:off x="8135938" y="6132513"/>
            <a:ext cx="3067050" cy="2190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>
                <a:solidFill>
                  <a:schemeClr val="tx1"/>
                </a:solidFill>
                <a:latin typeface="Microsoft YaHei" charset="-122"/>
                <a:ea typeface="Microsoft YaHei" charset="-122"/>
                <a:cs typeface="Microsoft YaHei" charset="-122"/>
              </a:defRPr>
            </a:lvl1pPr>
          </a:lstStyle>
          <a:p>
            <a:fld id="{22E6D20B-5538-E34D-91FE-E40835CF0C83}" type="slidenum">
              <a:rPr kumimoji="1" lang="zh-CN" altLang="en-US" smtClean="0"/>
            </a:fld>
            <a:endParaRPr kumimoji="1" lang="zh-CN" altLang="en-US" dirty="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与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幻灯片编号占位符 12"/>
          <p:cNvSpPr>
            <a:spLocks noGrp="1"/>
          </p:cNvSpPr>
          <p:nvPr>
            <p:ph type="sldNum" sz="quarter" idx="4"/>
          </p:nvPr>
        </p:nvSpPr>
        <p:spPr>
          <a:xfrm>
            <a:off x="8135938" y="6132513"/>
            <a:ext cx="3067050" cy="2190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>
                <a:solidFill>
                  <a:schemeClr val="tx1"/>
                </a:solidFill>
                <a:latin typeface="Microsoft YaHei" charset="-122"/>
                <a:ea typeface="Microsoft YaHei" charset="-122"/>
                <a:cs typeface="Microsoft YaHei" charset="-122"/>
              </a:defRPr>
            </a:lvl1pPr>
          </a:lstStyle>
          <a:p>
            <a:fld id="{22E6D20B-5538-E34D-91FE-E40835CF0C83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标题与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7131906" y="2658972"/>
            <a:ext cx="3060700" cy="1231900"/>
          </a:xfrm>
          <a:prstGeom prst="rect">
            <a:avLst/>
          </a:prstGeom>
        </p:spPr>
      </p:pic>
      <p:pic>
        <p:nvPicPr>
          <p:cNvPr id="8" name="image4.png" descr="image1.png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64"/>
          <a:stretch>
            <a:fillRect/>
          </a:stretch>
        </p:blipFill>
        <p:spPr bwMode="auto">
          <a:xfrm>
            <a:off x="19968651" y="1"/>
            <a:ext cx="1169189" cy="654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9" name="圆形"/>
          <p:cNvSpPr/>
          <p:nvPr userDrawn="1"/>
        </p:nvSpPr>
        <p:spPr>
          <a:xfrm>
            <a:off x="3398127" y="1394971"/>
            <a:ext cx="3690234" cy="3690232"/>
          </a:xfrm>
          <a:prstGeom prst="ellipse">
            <a:avLst/>
          </a:prstGeom>
          <a:blipFill>
            <a:blip r:embed="rId4" cstate="print"/>
            <a:srcRect/>
            <a:stretch>
              <a:fillRect l="-3703" r="-2547"/>
            </a:stretch>
          </a:blip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700" dirty="0">
              <a:latin typeface="FZLanTingHei-M-GBK" charset="-122"/>
              <a:ea typeface="FZLanTingHei-M-GBK" charset="-122"/>
              <a:cs typeface="FZLanTingHei-M-GBK" charset="-122"/>
            </a:endParaRPr>
          </a:p>
        </p:txBody>
      </p:sp>
      <p:sp>
        <p:nvSpPr>
          <p:cNvPr id="10" name="圆形"/>
          <p:cNvSpPr/>
          <p:nvPr userDrawn="1"/>
        </p:nvSpPr>
        <p:spPr>
          <a:xfrm>
            <a:off x="2152892" y="2149106"/>
            <a:ext cx="2711526" cy="2711526"/>
          </a:xfrm>
          <a:prstGeom prst="ellipse">
            <a:avLst/>
          </a:prstGeom>
          <a:solidFill>
            <a:srgbClr val="DC3E33">
              <a:alpha val="60000"/>
            </a:srgbClr>
          </a:solidFill>
          <a:ln w="28575">
            <a:noFill/>
            <a:miter lim="400000"/>
          </a:ln>
        </p:spPr>
        <p:txBody>
          <a:bodyPr wrap="none"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700" dirty="0">
              <a:solidFill>
                <a:srgbClr val="E60002"/>
              </a:solidFill>
              <a:latin typeface="FZLanTingHei-M-GBK" charset="-122"/>
              <a:ea typeface="FZLanTingHei-M-GBK" charset="-122"/>
              <a:cs typeface="FZLanTingHei-M-GBK" charset="-122"/>
            </a:endParaRPr>
          </a:p>
        </p:txBody>
      </p:sp>
      <p:cxnSp>
        <p:nvCxnSpPr>
          <p:cNvPr id="13" name="直线连接符 12"/>
          <p:cNvCxnSpPr/>
          <p:nvPr userDrawn="1"/>
        </p:nvCxnSpPr>
        <p:spPr>
          <a:xfrm>
            <a:off x="7426700" y="3412450"/>
            <a:ext cx="196984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图片 18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0244" y="198397"/>
            <a:ext cx="1252743" cy="588183"/>
          </a:xfrm>
          <a:prstGeom prst="rect">
            <a:avLst/>
          </a:prstGeom>
        </p:spPr>
      </p:pic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占位符 11"/>
          <p:cNvSpPr>
            <a:spLocks noGrp="1"/>
          </p:cNvSpPr>
          <p:nvPr>
            <p:ph type="title"/>
          </p:nvPr>
        </p:nvSpPr>
        <p:spPr>
          <a:xfrm>
            <a:off x="317501" y="344489"/>
            <a:ext cx="5443538" cy="26511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13" name="幻灯片编号占位符 12"/>
          <p:cNvSpPr>
            <a:spLocks noGrp="1"/>
          </p:cNvSpPr>
          <p:nvPr>
            <p:ph type="sldNum" sz="quarter" idx="4"/>
          </p:nvPr>
        </p:nvSpPr>
        <p:spPr>
          <a:xfrm>
            <a:off x="8135938" y="6132513"/>
            <a:ext cx="3067050" cy="2190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>
                <a:solidFill>
                  <a:schemeClr val="tx1"/>
                </a:solidFill>
                <a:latin typeface="Microsoft YaHei" charset="-122"/>
                <a:ea typeface="Microsoft YaHei" charset="-122"/>
                <a:cs typeface="Microsoft YaHei" charset="-122"/>
              </a:defRPr>
            </a:lvl1pPr>
          </a:lstStyle>
          <a:p>
            <a:fld id="{22E6D20B-5538-E34D-91FE-E40835CF0C83}" type="slidenum">
              <a:rPr kumimoji="1" lang="zh-CN" altLang="en-US" smtClean="0"/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iming>
    <p:tnLst>
      <p:par>
        <p:cTn id="1" dur="indefinite" restart="never" nodeType="tmRoot"/>
      </p:par>
    </p:tnLst>
  </p:timing>
  <p:hf hdr="0" ftr="0" dt="0"/>
  <p:txStyles>
    <p:titleStyle>
      <a:lvl1pPr marL="0" marR="0" indent="0" algn="l" defTabSz="519430" rtl="0" eaLnBrk="1" fontAlgn="auto" latinLnBrk="0" hangingPunct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kern="1200">
          <a:solidFill>
            <a:schemeClr val="tx1"/>
          </a:solidFill>
          <a:latin typeface="Microsoft YaHei" charset="-122"/>
          <a:ea typeface="Microsoft YaHei" charset="-122"/>
          <a:cs typeface="Microsoft YaHei" charset="-122"/>
        </a:defRPr>
      </a:lvl1pPr>
    </p:titleStyle>
    <p:bodyStyle>
      <a:lvl1pPr marL="99695" indent="-99695" algn="l" defTabSz="398780" rtl="0" eaLnBrk="1" latinLnBrk="0" hangingPunct="1">
        <a:lnSpc>
          <a:spcPct val="90000"/>
        </a:lnSpc>
        <a:spcBef>
          <a:spcPts val="435"/>
        </a:spcBef>
        <a:buFont typeface="Arial" panose="020B0604020202090204"/>
        <a:buChar char="•"/>
        <a:defRPr sz="1220" kern="1200">
          <a:solidFill>
            <a:schemeClr val="tx1"/>
          </a:solidFill>
          <a:latin typeface="+mn-lt"/>
          <a:ea typeface="+mn-ea"/>
          <a:cs typeface="+mn-cs"/>
        </a:defRPr>
      </a:lvl1pPr>
      <a:lvl2pPr marL="299085" indent="-99695" algn="l" defTabSz="398780" rtl="0" eaLnBrk="1" latinLnBrk="0" hangingPunct="1">
        <a:lnSpc>
          <a:spcPct val="90000"/>
        </a:lnSpc>
        <a:spcBef>
          <a:spcPts val="220"/>
        </a:spcBef>
        <a:buFont typeface="Arial" panose="020B0604020202090204"/>
        <a:buChar char="•"/>
        <a:defRPr sz="1045" kern="1200">
          <a:solidFill>
            <a:schemeClr val="tx1"/>
          </a:solidFill>
          <a:latin typeface="+mn-lt"/>
          <a:ea typeface="+mn-ea"/>
          <a:cs typeface="+mn-cs"/>
        </a:defRPr>
      </a:lvl2pPr>
      <a:lvl3pPr marL="498475" indent="-99695" algn="l" defTabSz="398780" rtl="0" eaLnBrk="1" latinLnBrk="0" hangingPunct="1">
        <a:lnSpc>
          <a:spcPct val="90000"/>
        </a:lnSpc>
        <a:spcBef>
          <a:spcPts val="220"/>
        </a:spcBef>
        <a:buFont typeface="Arial" panose="020B0604020202090204"/>
        <a:buChar char="•"/>
        <a:defRPr sz="870" kern="1200">
          <a:solidFill>
            <a:schemeClr val="tx1"/>
          </a:solidFill>
          <a:latin typeface="+mn-lt"/>
          <a:ea typeface="+mn-ea"/>
          <a:cs typeface="+mn-cs"/>
        </a:defRPr>
      </a:lvl3pPr>
      <a:lvl4pPr marL="697865" indent="-99695" algn="l" defTabSz="398780" rtl="0" eaLnBrk="1" latinLnBrk="0" hangingPunct="1">
        <a:lnSpc>
          <a:spcPct val="90000"/>
        </a:lnSpc>
        <a:spcBef>
          <a:spcPts val="220"/>
        </a:spcBef>
        <a:buFont typeface="Arial" panose="020B0604020202090204"/>
        <a:buChar char="•"/>
        <a:defRPr sz="785" kern="1200">
          <a:solidFill>
            <a:schemeClr val="tx1"/>
          </a:solidFill>
          <a:latin typeface="+mn-lt"/>
          <a:ea typeface="+mn-ea"/>
          <a:cs typeface="+mn-cs"/>
        </a:defRPr>
      </a:lvl4pPr>
      <a:lvl5pPr marL="897255" indent="-99695" algn="l" defTabSz="398780" rtl="0" eaLnBrk="1" latinLnBrk="0" hangingPunct="1">
        <a:lnSpc>
          <a:spcPct val="90000"/>
        </a:lnSpc>
        <a:spcBef>
          <a:spcPts val="220"/>
        </a:spcBef>
        <a:buFont typeface="Arial" panose="020B0604020202090204"/>
        <a:buChar char="•"/>
        <a:defRPr sz="785" kern="1200">
          <a:solidFill>
            <a:schemeClr val="tx1"/>
          </a:solidFill>
          <a:latin typeface="+mn-lt"/>
          <a:ea typeface="+mn-ea"/>
          <a:cs typeface="+mn-cs"/>
        </a:defRPr>
      </a:lvl5pPr>
      <a:lvl6pPr marL="1096645" indent="-99695" algn="l" defTabSz="398780" rtl="0" eaLnBrk="1" latinLnBrk="0" hangingPunct="1">
        <a:lnSpc>
          <a:spcPct val="90000"/>
        </a:lnSpc>
        <a:spcBef>
          <a:spcPts val="220"/>
        </a:spcBef>
        <a:buFont typeface="Arial" panose="020B0604020202090204"/>
        <a:buChar char="•"/>
        <a:defRPr sz="785" kern="1200">
          <a:solidFill>
            <a:schemeClr val="tx1"/>
          </a:solidFill>
          <a:latin typeface="+mn-lt"/>
          <a:ea typeface="+mn-ea"/>
          <a:cs typeface="+mn-cs"/>
        </a:defRPr>
      </a:lvl6pPr>
      <a:lvl7pPr marL="1296035" indent="-99695" algn="l" defTabSz="398780" rtl="0" eaLnBrk="1" latinLnBrk="0" hangingPunct="1">
        <a:lnSpc>
          <a:spcPct val="90000"/>
        </a:lnSpc>
        <a:spcBef>
          <a:spcPts val="220"/>
        </a:spcBef>
        <a:buFont typeface="Arial" panose="020B0604020202090204"/>
        <a:buChar char="•"/>
        <a:defRPr sz="785" kern="1200">
          <a:solidFill>
            <a:schemeClr val="tx1"/>
          </a:solidFill>
          <a:latin typeface="+mn-lt"/>
          <a:ea typeface="+mn-ea"/>
          <a:cs typeface="+mn-cs"/>
        </a:defRPr>
      </a:lvl7pPr>
      <a:lvl8pPr marL="1495425" indent="-99695" algn="l" defTabSz="398780" rtl="0" eaLnBrk="1" latinLnBrk="0" hangingPunct="1">
        <a:lnSpc>
          <a:spcPct val="90000"/>
        </a:lnSpc>
        <a:spcBef>
          <a:spcPts val="220"/>
        </a:spcBef>
        <a:buFont typeface="Arial" panose="020B0604020202090204"/>
        <a:buChar char="•"/>
        <a:defRPr sz="785" kern="1200">
          <a:solidFill>
            <a:schemeClr val="tx1"/>
          </a:solidFill>
          <a:latin typeface="+mn-lt"/>
          <a:ea typeface="+mn-ea"/>
          <a:cs typeface="+mn-cs"/>
        </a:defRPr>
      </a:lvl8pPr>
      <a:lvl9pPr marL="1695450" indent="-99695" algn="l" defTabSz="398780" rtl="0" eaLnBrk="1" latinLnBrk="0" hangingPunct="1">
        <a:lnSpc>
          <a:spcPct val="90000"/>
        </a:lnSpc>
        <a:spcBef>
          <a:spcPts val="220"/>
        </a:spcBef>
        <a:buFont typeface="Arial" panose="020B0604020202090204"/>
        <a:buChar char="•"/>
        <a:defRPr sz="7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398780" rtl="0" eaLnBrk="1" latinLnBrk="0" hangingPunct="1">
        <a:defRPr sz="785" kern="1200">
          <a:solidFill>
            <a:schemeClr val="tx1"/>
          </a:solidFill>
          <a:latin typeface="+mn-lt"/>
          <a:ea typeface="+mn-ea"/>
          <a:cs typeface="+mn-cs"/>
        </a:defRPr>
      </a:lvl1pPr>
      <a:lvl2pPr marL="199390" algn="l" defTabSz="398780" rtl="0" eaLnBrk="1" latinLnBrk="0" hangingPunct="1">
        <a:defRPr sz="785" kern="1200">
          <a:solidFill>
            <a:schemeClr val="tx1"/>
          </a:solidFill>
          <a:latin typeface="+mn-lt"/>
          <a:ea typeface="+mn-ea"/>
          <a:cs typeface="+mn-cs"/>
        </a:defRPr>
      </a:lvl2pPr>
      <a:lvl3pPr marL="398780" algn="l" defTabSz="398780" rtl="0" eaLnBrk="1" latinLnBrk="0" hangingPunct="1">
        <a:defRPr sz="785" kern="1200">
          <a:solidFill>
            <a:schemeClr val="tx1"/>
          </a:solidFill>
          <a:latin typeface="+mn-lt"/>
          <a:ea typeface="+mn-ea"/>
          <a:cs typeface="+mn-cs"/>
        </a:defRPr>
      </a:lvl3pPr>
      <a:lvl4pPr marL="598170" algn="l" defTabSz="398780" rtl="0" eaLnBrk="1" latinLnBrk="0" hangingPunct="1">
        <a:defRPr sz="785" kern="1200">
          <a:solidFill>
            <a:schemeClr val="tx1"/>
          </a:solidFill>
          <a:latin typeface="+mn-lt"/>
          <a:ea typeface="+mn-ea"/>
          <a:cs typeface="+mn-cs"/>
        </a:defRPr>
      </a:lvl4pPr>
      <a:lvl5pPr marL="797560" algn="l" defTabSz="398780" rtl="0" eaLnBrk="1" latinLnBrk="0" hangingPunct="1">
        <a:defRPr sz="785" kern="1200">
          <a:solidFill>
            <a:schemeClr val="tx1"/>
          </a:solidFill>
          <a:latin typeface="+mn-lt"/>
          <a:ea typeface="+mn-ea"/>
          <a:cs typeface="+mn-cs"/>
        </a:defRPr>
      </a:lvl5pPr>
      <a:lvl6pPr marL="996950" algn="l" defTabSz="398780" rtl="0" eaLnBrk="1" latinLnBrk="0" hangingPunct="1">
        <a:defRPr sz="785" kern="1200">
          <a:solidFill>
            <a:schemeClr val="tx1"/>
          </a:solidFill>
          <a:latin typeface="+mn-lt"/>
          <a:ea typeface="+mn-ea"/>
          <a:cs typeface="+mn-cs"/>
        </a:defRPr>
      </a:lvl6pPr>
      <a:lvl7pPr marL="1196340" algn="l" defTabSz="398780" rtl="0" eaLnBrk="1" latinLnBrk="0" hangingPunct="1">
        <a:defRPr sz="785" kern="1200">
          <a:solidFill>
            <a:schemeClr val="tx1"/>
          </a:solidFill>
          <a:latin typeface="+mn-lt"/>
          <a:ea typeface="+mn-ea"/>
          <a:cs typeface="+mn-cs"/>
        </a:defRPr>
      </a:lvl7pPr>
      <a:lvl8pPr marL="1395730" algn="l" defTabSz="398780" rtl="0" eaLnBrk="1" latinLnBrk="0" hangingPunct="1">
        <a:defRPr sz="785" kern="1200">
          <a:solidFill>
            <a:schemeClr val="tx1"/>
          </a:solidFill>
          <a:latin typeface="+mn-lt"/>
          <a:ea typeface="+mn-ea"/>
          <a:cs typeface="+mn-cs"/>
        </a:defRPr>
      </a:lvl8pPr>
      <a:lvl9pPr marL="1595755" algn="l" defTabSz="398780" rtl="0" eaLnBrk="1" latinLnBrk="0" hangingPunct="1">
        <a:defRPr sz="7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8.xml"/><Relationship Id="rId4" Type="http://schemas.openxmlformats.org/officeDocument/2006/relationships/slideLayout" Target="../slideLayouts/slideLayout3.xml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鲲鹏展翅 比翼齐飞…"/>
          <p:cNvSpPr txBox="1"/>
          <p:nvPr/>
        </p:nvSpPr>
        <p:spPr>
          <a:xfrm>
            <a:off x="4781007" y="1320532"/>
            <a:ext cx="6421982" cy="513715"/>
          </a:xfrm>
          <a:prstGeom prst="rect">
            <a:avLst/>
          </a:prstGeom>
          <a:ln w="12700">
            <a:miter lim="400000"/>
          </a:ln>
        </p:spPr>
        <p:txBody>
          <a:bodyPr wrap="square" lIns="11078" tIns="11078" rIns="11078" bIns="11078" anchor="t">
            <a:spAutoFit/>
          </a:bodyPr>
          <a:lstStyle/>
          <a:p>
            <a:pPr algn="r"/>
            <a:r>
              <a:rPr lang="zh-CN" altLang="en-US" sz="3000" b="0" dirty="0" smtClean="0">
                <a:solidFill>
                  <a:schemeClr val="tx1"/>
                </a:solidFill>
                <a:latin typeface="SimHei" charset="-122"/>
                <a:ea typeface="SimHei" charset="-122"/>
                <a:cs typeface="SimHei" charset="-122"/>
              </a:rPr>
              <a:t>分区存储 （</a:t>
            </a:r>
            <a:r>
              <a:rPr lang="en-US" altLang="zh-CN" sz="3200" dirty="0" smtClean="0"/>
              <a:t>Scope Storage</a:t>
            </a:r>
            <a:r>
              <a:rPr lang="zh-CN" altLang="en-US" sz="3200" dirty="0" smtClean="0"/>
              <a:t>）</a:t>
            </a:r>
            <a:endParaRPr lang="zh-CN" altLang="en-US" sz="3000" b="0" dirty="0">
              <a:solidFill>
                <a:schemeClr val="tx1"/>
              </a:solidFill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10" name="线条"/>
          <p:cNvSpPr/>
          <p:nvPr/>
        </p:nvSpPr>
        <p:spPr>
          <a:xfrm>
            <a:off x="5353397" y="1220988"/>
            <a:ext cx="5849590" cy="14196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700" dirty="0"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11" name="线条"/>
          <p:cNvSpPr/>
          <p:nvPr/>
        </p:nvSpPr>
        <p:spPr>
          <a:xfrm flipV="1">
            <a:off x="7614458" y="2008615"/>
            <a:ext cx="3588527" cy="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700" dirty="0"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9957513" y="4871545"/>
            <a:ext cx="1245476" cy="461645"/>
          </a:xfrm>
          <a:prstGeom prst="rect">
            <a:avLst/>
          </a:prstGeom>
        </p:spPr>
        <p:txBody>
          <a:bodyPr wrap="square" lIns="72000" tIns="0" rIns="0" bIns="0">
            <a:spAutoFit/>
          </a:bodyPr>
          <a:lstStyle/>
          <a:p>
            <a:pPr lvl="0" algn="r" defTabSz="824865">
              <a:lnSpc>
                <a:spcPct val="120000"/>
              </a:lnSpc>
            </a:pPr>
            <a:r>
              <a:rPr lang="zh-CN" altLang="en-US" sz="2500" b="0" dirty="0" smtClean="0">
                <a:solidFill>
                  <a:schemeClr val="tx1"/>
                </a:solidFill>
                <a:latin typeface="SimHei" charset="-122"/>
                <a:ea typeface="SimHei" charset="-122"/>
                <a:cs typeface="SimHei" charset="-122"/>
              </a:rPr>
              <a:t>吴景超</a:t>
            </a:r>
            <a:endParaRPr lang="en-US" altLang="zh-CN" sz="2500" b="0" dirty="0">
              <a:solidFill>
                <a:schemeClr val="tx1"/>
              </a:solidFill>
              <a:latin typeface="SimHei" charset="-122"/>
              <a:ea typeface="SimHei" charset="-122"/>
              <a:cs typeface="SimHei" charset="-122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线条"/>
          <p:cNvSpPr/>
          <p:nvPr/>
        </p:nvSpPr>
        <p:spPr>
          <a:xfrm flipV="1">
            <a:off x="1660386" y="1008304"/>
            <a:ext cx="9332080" cy="0"/>
          </a:xfrm>
          <a:prstGeom prst="line">
            <a:avLst/>
          </a:prstGeom>
          <a:ln w="12700">
            <a:solidFill>
              <a:srgbClr val="929292"/>
            </a:solidFill>
            <a:miter lim="400000"/>
          </a:ln>
        </p:spPr>
        <p:txBody>
          <a:bodyPr lIns="36000" tIns="36000" rIns="36000" bIns="36000" anchor="ctr">
            <a:noAutofit/>
          </a:bodyPr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90" dirty="0">
              <a:solidFill>
                <a:schemeClr val="bg2">
                  <a:lumMod val="50000"/>
                </a:schemeClr>
              </a:solidFill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6" name="圆形"/>
          <p:cNvSpPr>
            <a:spLocks noChangeAspect="1"/>
          </p:cNvSpPr>
          <p:nvPr/>
        </p:nvSpPr>
        <p:spPr>
          <a:xfrm>
            <a:off x="445319" y="332520"/>
            <a:ext cx="1317203" cy="1317203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 w="12700" cap="flat">
            <a:noFill/>
            <a:miter lim="400000"/>
          </a:ln>
          <a:effectLst/>
        </p:spPr>
        <p:txBody>
          <a:bodyPr wrap="square" lIns="36000" tIns="36000" rIns="36000" bIns="36000" numCol="1" anchor="ctr">
            <a:noAutofit/>
          </a:bodyPr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90" dirty="0">
              <a:solidFill>
                <a:schemeClr val="tx1">
                  <a:lumMod val="65000"/>
                  <a:lumOff val="35000"/>
                </a:schemeClr>
              </a:solidFill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7" name="目录"/>
          <p:cNvSpPr txBox="1"/>
          <p:nvPr/>
        </p:nvSpPr>
        <p:spPr>
          <a:xfrm>
            <a:off x="891444" y="1051126"/>
            <a:ext cx="424948" cy="237816"/>
          </a:xfrm>
          <a:prstGeom prst="rect">
            <a:avLst/>
          </a:prstGeom>
          <a:ln w="12700">
            <a:miter lim="400000"/>
          </a:ln>
        </p:spPr>
        <p:txBody>
          <a:bodyPr wrap="square" lIns="0" tIns="0" rIns="0" bIns="0" anchor="ctr">
            <a:noAutofit/>
          </a:bodyPr>
          <a:lstStyle>
            <a:lvl1pPr defTabSz="457200">
              <a:defRPr sz="5000" b="0">
                <a:solidFill>
                  <a:srgbClr val="FFFFFF"/>
                </a:solidFill>
                <a:latin typeface="FZLanTingHeiS-R-GB"/>
                <a:ea typeface="FZLanTingHeiS-R-GB"/>
                <a:cs typeface="FZLanTingHeiS-R-GB"/>
                <a:sym typeface="FZLanTingHeiS-R-GB"/>
              </a:defRPr>
            </a:lvl1pPr>
          </a:lstStyle>
          <a:p>
            <a:pPr algn="dist"/>
            <a:r>
              <a:rPr sz="1400" dirty="0">
                <a:solidFill>
                  <a:schemeClr val="bg1"/>
                </a:solidFill>
                <a:latin typeface="SimHei" charset="-122"/>
                <a:ea typeface="SimHei" charset="-122"/>
                <a:cs typeface="SimHei" charset="-122"/>
              </a:rPr>
              <a:t>目录</a:t>
            </a:r>
            <a:endParaRPr sz="1400" dirty="0">
              <a:solidFill>
                <a:schemeClr val="bg1"/>
              </a:solidFill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8" name="CONTENTS"/>
          <p:cNvSpPr txBox="1"/>
          <p:nvPr/>
        </p:nvSpPr>
        <p:spPr>
          <a:xfrm>
            <a:off x="445320" y="770490"/>
            <a:ext cx="1317202" cy="237816"/>
          </a:xfrm>
          <a:prstGeom prst="rect">
            <a:avLst/>
          </a:prstGeom>
          <a:ln w="12700">
            <a:miter lim="400000"/>
          </a:ln>
        </p:spPr>
        <p:txBody>
          <a:bodyPr wrap="square" lIns="0" tIns="0" rIns="0" bIns="0" anchor="ctr">
            <a:noAutofit/>
          </a:bodyPr>
          <a:lstStyle>
            <a:lvl1pPr defTabSz="457200">
              <a:defRPr sz="4500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rPr sz="1800" b="0" dirty="0">
                <a:solidFill>
                  <a:schemeClr val="bg1"/>
                </a:solidFill>
                <a:latin typeface="SimHei" charset="-122"/>
                <a:ea typeface="SimHei" charset="-122"/>
                <a:cs typeface="SimHei" charset="-122"/>
              </a:rPr>
              <a:t>CONTENTS</a:t>
            </a:r>
            <a:endParaRPr sz="1800" b="0" dirty="0">
              <a:solidFill>
                <a:schemeClr val="bg1"/>
              </a:solidFill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10" name="圆形"/>
          <p:cNvSpPr>
            <a:spLocks noChangeAspect="1"/>
          </p:cNvSpPr>
          <p:nvPr/>
        </p:nvSpPr>
        <p:spPr>
          <a:xfrm>
            <a:off x="2030830" y="1304931"/>
            <a:ext cx="130344" cy="130342"/>
          </a:xfrm>
          <a:prstGeom prst="ellipse">
            <a:avLst/>
          </a:prstGeom>
          <a:solidFill>
            <a:srgbClr val="DC3E33">
              <a:alpha val="50000"/>
            </a:srgbClr>
          </a:solidFill>
          <a:ln w="12700">
            <a:miter lim="400000"/>
          </a:ln>
        </p:spPr>
        <p:txBody>
          <a:bodyPr lIns="36000" tIns="36000" rIns="36000" bIns="36000" anchor="ctr">
            <a:noAutofit/>
          </a:bodyPr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90" dirty="0">
              <a:solidFill>
                <a:schemeClr val="tx1"/>
              </a:solidFill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11" name="圆形"/>
          <p:cNvSpPr>
            <a:spLocks noChangeAspect="1"/>
          </p:cNvSpPr>
          <p:nvPr/>
        </p:nvSpPr>
        <p:spPr>
          <a:xfrm>
            <a:off x="1934579" y="1304931"/>
            <a:ext cx="260684" cy="260684"/>
          </a:xfrm>
          <a:prstGeom prst="ellipse">
            <a:avLst/>
          </a:prstGeom>
          <a:solidFill>
            <a:srgbClr val="DC3E33"/>
          </a:solidFill>
          <a:ln w="12700">
            <a:miter lim="400000"/>
          </a:ln>
        </p:spPr>
        <p:txBody>
          <a:bodyPr lIns="0" tIns="0" rIns="18000" bIns="18000" anchor="ctr">
            <a:noAutofit/>
          </a:bodyPr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r>
              <a:rPr lang="en-US" altLang="zh-CN" sz="1220" i="1" dirty="0">
                <a:solidFill>
                  <a:schemeClr val="bg1"/>
                </a:solidFill>
                <a:latin typeface="SimHei" charset="-122"/>
                <a:ea typeface="SimHei" charset="-122"/>
                <a:cs typeface="SimHei" charset="-122"/>
              </a:rPr>
              <a:t>1</a:t>
            </a:r>
            <a:endParaRPr sz="1220" i="1" dirty="0">
              <a:solidFill>
                <a:schemeClr val="bg1"/>
              </a:solidFill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12" name="TCL概况"/>
          <p:cNvSpPr txBox="1"/>
          <p:nvPr/>
        </p:nvSpPr>
        <p:spPr>
          <a:xfrm>
            <a:off x="2282675" y="1133211"/>
            <a:ext cx="6738965" cy="607393"/>
          </a:xfrm>
          <a:prstGeom prst="rect">
            <a:avLst/>
          </a:prstGeom>
          <a:ln w="12700">
            <a:miter lim="400000"/>
          </a:ln>
        </p:spPr>
        <p:txBody>
          <a:bodyPr wrap="square" lIns="36000" tIns="36000" rIns="36000" bIns="36000" anchor="t">
            <a:noAutofit/>
          </a:bodyPr>
          <a:lstStyle>
            <a:lvl1pPr algn="l" defTabSz="457200">
              <a:defRPr sz="4000" b="0">
                <a:solidFill>
                  <a:srgbClr val="5E5E5E"/>
                </a:solidFill>
                <a:latin typeface="FZLanTingHeiS-DB1-GBK"/>
                <a:ea typeface="FZLanTingHeiS-DB1-GBK"/>
                <a:cs typeface="FZLanTingHeiS-DB1-GBK"/>
                <a:sym typeface="FZLanTingHeiS-DB1-GBK"/>
              </a:defRPr>
            </a:lvl1pPr>
          </a:lstStyle>
          <a:p>
            <a:pPr defTabSz="531495" hangingPunct="1">
              <a:lnSpc>
                <a:spcPct val="120000"/>
              </a:lnSpc>
            </a:pPr>
            <a:r>
              <a:rPr kumimoji="1" lang="zh-CN" altLang="en-US" sz="3000" kern="1200" dirty="0">
                <a:solidFill>
                  <a:schemeClr val="tx1"/>
                </a:solidFill>
                <a:latin typeface="SimHei" charset="-122"/>
                <a:ea typeface="SimHei" charset="-122"/>
                <a:cs typeface="SimHei" charset="-122"/>
              </a:rPr>
              <a:t>分区存储引入的原因</a:t>
            </a:r>
            <a:endParaRPr kumimoji="1" lang="zh-CN" altLang="en-US" sz="3000" kern="1200" dirty="0">
              <a:solidFill>
                <a:schemeClr val="tx1"/>
              </a:solidFill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20" name="圆形"/>
          <p:cNvSpPr>
            <a:spLocks noChangeAspect="1"/>
          </p:cNvSpPr>
          <p:nvPr/>
        </p:nvSpPr>
        <p:spPr>
          <a:xfrm>
            <a:off x="1996739" y="2284645"/>
            <a:ext cx="130344" cy="130342"/>
          </a:xfrm>
          <a:prstGeom prst="ellipse">
            <a:avLst/>
          </a:prstGeom>
          <a:solidFill>
            <a:srgbClr val="DC3E33">
              <a:alpha val="50000"/>
            </a:srgbClr>
          </a:solidFill>
          <a:ln w="12700">
            <a:miter lim="400000"/>
          </a:ln>
        </p:spPr>
        <p:txBody>
          <a:bodyPr lIns="36000" tIns="36000" rIns="36000" bIns="36000" anchor="ctr">
            <a:noAutofit/>
          </a:bodyPr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90" dirty="0">
              <a:solidFill>
                <a:schemeClr val="tx1"/>
              </a:solidFill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21" name="圆形"/>
          <p:cNvSpPr>
            <a:spLocks noChangeAspect="1"/>
          </p:cNvSpPr>
          <p:nvPr/>
        </p:nvSpPr>
        <p:spPr>
          <a:xfrm>
            <a:off x="1934579" y="2244227"/>
            <a:ext cx="260684" cy="260684"/>
          </a:xfrm>
          <a:prstGeom prst="ellipse">
            <a:avLst/>
          </a:prstGeom>
          <a:solidFill>
            <a:srgbClr val="DC3E33"/>
          </a:solidFill>
          <a:ln w="12700">
            <a:miter lim="400000"/>
          </a:ln>
        </p:spPr>
        <p:txBody>
          <a:bodyPr lIns="0" tIns="0" rIns="18000" bIns="18000" anchor="ctr">
            <a:noAutofit/>
          </a:bodyPr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r>
              <a:rPr lang="en-US" altLang="zh-CN" sz="1220" i="1" dirty="0" smtClean="0">
                <a:solidFill>
                  <a:schemeClr val="bg1"/>
                </a:solidFill>
                <a:latin typeface="SimHei" charset="-122"/>
                <a:ea typeface="SimHei" charset="-122"/>
                <a:cs typeface="SimHei" charset="-122"/>
              </a:rPr>
              <a:t>2</a:t>
            </a:r>
            <a:endParaRPr sz="1220" i="1" dirty="0">
              <a:solidFill>
                <a:schemeClr val="bg1"/>
              </a:solidFill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22" name="TCL概况"/>
          <p:cNvSpPr txBox="1"/>
          <p:nvPr/>
        </p:nvSpPr>
        <p:spPr>
          <a:xfrm>
            <a:off x="2328688" y="2046119"/>
            <a:ext cx="6738965" cy="607393"/>
          </a:xfrm>
          <a:prstGeom prst="rect">
            <a:avLst/>
          </a:prstGeom>
          <a:ln w="12700">
            <a:miter lim="400000"/>
          </a:ln>
        </p:spPr>
        <p:txBody>
          <a:bodyPr wrap="square" lIns="36000" tIns="36000" rIns="36000" bIns="36000" anchor="t">
            <a:noAutofit/>
          </a:bodyPr>
          <a:lstStyle>
            <a:lvl1pPr algn="l" defTabSz="457200">
              <a:defRPr sz="4000" b="0">
                <a:solidFill>
                  <a:srgbClr val="5E5E5E"/>
                </a:solidFill>
                <a:latin typeface="FZLanTingHeiS-DB1-GBK"/>
                <a:ea typeface="FZLanTingHeiS-DB1-GBK"/>
                <a:cs typeface="FZLanTingHeiS-DB1-GBK"/>
                <a:sym typeface="FZLanTingHeiS-DB1-GBK"/>
              </a:defRPr>
            </a:lvl1pPr>
          </a:lstStyle>
          <a:p>
            <a:pPr defTabSz="531495" hangingPunct="1">
              <a:lnSpc>
                <a:spcPct val="120000"/>
              </a:lnSpc>
            </a:pPr>
            <a:r>
              <a:rPr kumimoji="1" lang="zh-CN" altLang="en-US" sz="3000" kern="1200" dirty="0">
                <a:solidFill>
                  <a:schemeClr val="tx1"/>
                </a:solidFill>
                <a:latin typeface="SimHei" charset="-122"/>
                <a:ea typeface="SimHei" charset="-122"/>
                <a:cs typeface="SimHei" charset="-122"/>
              </a:rPr>
              <a:t>分区存储介绍</a:t>
            </a:r>
            <a:endParaRPr kumimoji="1" lang="zh-CN" altLang="en-US" sz="3000" kern="1200" dirty="0">
              <a:solidFill>
                <a:schemeClr val="tx1"/>
              </a:solidFill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26" name="圆形"/>
          <p:cNvSpPr>
            <a:spLocks noChangeAspect="1"/>
          </p:cNvSpPr>
          <p:nvPr/>
        </p:nvSpPr>
        <p:spPr>
          <a:xfrm>
            <a:off x="1965159" y="3164249"/>
            <a:ext cx="130344" cy="130342"/>
          </a:xfrm>
          <a:prstGeom prst="ellipse">
            <a:avLst/>
          </a:prstGeom>
          <a:solidFill>
            <a:srgbClr val="DC3E33">
              <a:alpha val="50000"/>
            </a:srgbClr>
          </a:solidFill>
          <a:ln w="12700">
            <a:miter lim="400000"/>
          </a:ln>
        </p:spPr>
        <p:txBody>
          <a:bodyPr lIns="36000" tIns="36000" rIns="36000" bIns="36000" anchor="ctr">
            <a:noAutofit/>
          </a:bodyPr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90" dirty="0">
              <a:solidFill>
                <a:schemeClr val="tx1"/>
              </a:solidFill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27" name="圆形"/>
          <p:cNvSpPr>
            <a:spLocks noChangeAspect="1"/>
          </p:cNvSpPr>
          <p:nvPr/>
        </p:nvSpPr>
        <p:spPr>
          <a:xfrm>
            <a:off x="1907940" y="3062221"/>
            <a:ext cx="260684" cy="260684"/>
          </a:xfrm>
          <a:prstGeom prst="ellipse">
            <a:avLst/>
          </a:prstGeom>
          <a:solidFill>
            <a:srgbClr val="DC3E33"/>
          </a:solidFill>
          <a:ln w="12700">
            <a:miter lim="400000"/>
          </a:ln>
        </p:spPr>
        <p:txBody>
          <a:bodyPr lIns="0" tIns="0" rIns="18000" bIns="18000" anchor="ctr">
            <a:noAutofit/>
          </a:bodyPr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r>
              <a:rPr lang="en-US" altLang="zh-CN" sz="1220" i="1" dirty="0" smtClean="0">
                <a:solidFill>
                  <a:schemeClr val="bg1"/>
                </a:solidFill>
                <a:latin typeface="SimHei" charset="-122"/>
                <a:ea typeface="SimHei" charset="-122"/>
                <a:cs typeface="SimHei" charset="-122"/>
              </a:rPr>
              <a:t>3</a:t>
            </a:r>
            <a:endParaRPr sz="1220" i="1" dirty="0">
              <a:solidFill>
                <a:schemeClr val="bg1"/>
              </a:solidFill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28" name="圆形"/>
          <p:cNvSpPr>
            <a:spLocks noChangeAspect="1"/>
          </p:cNvSpPr>
          <p:nvPr/>
        </p:nvSpPr>
        <p:spPr>
          <a:xfrm>
            <a:off x="1923620" y="3861153"/>
            <a:ext cx="130344" cy="130342"/>
          </a:xfrm>
          <a:prstGeom prst="ellipse">
            <a:avLst/>
          </a:prstGeom>
          <a:solidFill>
            <a:srgbClr val="DC3E33">
              <a:alpha val="50000"/>
            </a:srgbClr>
          </a:solidFill>
          <a:ln w="12700">
            <a:miter lim="400000"/>
          </a:ln>
        </p:spPr>
        <p:txBody>
          <a:bodyPr lIns="36000" tIns="36000" rIns="36000" bIns="36000" anchor="ctr">
            <a:noAutofit/>
          </a:bodyPr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90" dirty="0">
              <a:solidFill>
                <a:schemeClr val="tx1"/>
              </a:solidFill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29" name="圆形"/>
          <p:cNvSpPr>
            <a:spLocks noChangeAspect="1"/>
          </p:cNvSpPr>
          <p:nvPr/>
        </p:nvSpPr>
        <p:spPr>
          <a:xfrm>
            <a:off x="1892539" y="3844451"/>
            <a:ext cx="260684" cy="260684"/>
          </a:xfrm>
          <a:prstGeom prst="ellipse">
            <a:avLst/>
          </a:prstGeom>
          <a:solidFill>
            <a:srgbClr val="DC3E33"/>
          </a:solidFill>
          <a:ln w="12700">
            <a:miter lim="400000"/>
          </a:ln>
        </p:spPr>
        <p:txBody>
          <a:bodyPr lIns="0" tIns="0" rIns="18000" bIns="18000" anchor="ctr">
            <a:noAutofit/>
          </a:bodyPr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r>
              <a:rPr lang="en-US" sz="1220" i="1" dirty="0">
                <a:solidFill>
                  <a:schemeClr val="bg1"/>
                </a:solidFill>
                <a:latin typeface="SimHei" charset="-122"/>
                <a:ea typeface="SimHei" charset="-122"/>
                <a:cs typeface="SimHei" charset="-122"/>
              </a:rPr>
              <a:t>4</a:t>
            </a:r>
            <a:endParaRPr sz="1220" i="1" dirty="0">
              <a:solidFill>
                <a:schemeClr val="bg1"/>
              </a:solidFill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30" name="圆形"/>
          <p:cNvSpPr>
            <a:spLocks noChangeAspect="1"/>
          </p:cNvSpPr>
          <p:nvPr/>
        </p:nvSpPr>
        <p:spPr>
          <a:xfrm>
            <a:off x="1900488" y="4678711"/>
            <a:ext cx="130344" cy="130342"/>
          </a:xfrm>
          <a:prstGeom prst="ellipse">
            <a:avLst/>
          </a:prstGeom>
          <a:solidFill>
            <a:srgbClr val="DC3E33">
              <a:alpha val="50000"/>
            </a:srgbClr>
          </a:solidFill>
          <a:ln w="12700">
            <a:miter lim="400000"/>
          </a:ln>
        </p:spPr>
        <p:txBody>
          <a:bodyPr lIns="36000" tIns="36000" rIns="36000" bIns="36000" anchor="ctr">
            <a:noAutofit/>
          </a:bodyPr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390" dirty="0">
              <a:solidFill>
                <a:schemeClr val="tx1"/>
              </a:solidFill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31" name="圆形"/>
          <p:cNvSpPr>
            <a:spLocks noChangeAspect="1"/>
          </p:cNvSpPr>
          <p:nvPr/>
        </p:nvSpPr>
        <p:spPr>
          <a:xfrm>
            <a:off x="1892539" y="4621850"/>
            <a:ext cx="260684" cy="260684"/>
          </a:xfrm>
          <a:prstGeom prst="ellipse">
            <a:avLst/>
          </a:prstGeom>
          <a:solidFill>
            <a:srgbClr val="DC3E33"/>
          </a:solidFill>
          <a:ln w="12700">
            <a:miter lim="400000"/>
          </a:ln>
        </p:spPr>
        <p:txBody>
          <a:bodyPr lIns="0" tIns="0" rIns="18000" bIns="18000" anchor="ctr">
            <a:noAutofit/>
          </a:bodyPr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r>
              <a:rPr lang="en-US" sz="1220" i="1" dirty="0" smtClean="0">
                <a:solidFill>
                  <a:schemeClr val="bg1"/>
                </a:solidFill>
                <a:latin typeface="SimHei" charset="-122"/>
                <a:ea typeface="SimHei" charset="-122"/>
                <a:cs typeface="SimHei" charset="-122"/>
              </a:rPr>
              <a:t>5</a:t>
            </a:r>
            <a:endParaRPr sz="1220" i="1" dirty="0">
              <a:solidFill>
                <a:schemeClr val="bg1"/>
              </a:solidFill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32" name="TCL概况"/>
          <p:cNvSpPr txBox="1"/>
          <p:nvPr/>
        </p:nvSpPr>
        <p:spPr>
          <a:xfrm>
            <a:off x="2328688" y="2860375"/>
            <a:ext cx="6738965" cy="607393"/>
          </a:xfrm>
          <a:prstGeom prst="rect">
            <a:avLst/>
          </a:prstGeom>
          <a:ln w="12700">
            <a:miter lim="400000"/>
          </a:ln>
        </p:spPr>
        <p:txBody>
          <a:bodyPr wrap="square" lIns="36000" tIns="36000" rIns="36000" bIns="36000" anchor="t">
            <a:noAutofit/>
          </a:bodyPr>
          <a:lstStyle>
            <a:lvl1pPr algn="l" defTabSz="457200">
              <a:defRPr sz="4000" b="0">
                <a:solidFill>
                  <a:srgbClr val="5E5E5E"/>
                </a:solidFill>
                <a:latin typeface="FZLanTingHeiS-DB1-GBK"/>
                <a:ea typeface="FZLanTingHeiS-DB1-GBK"/>
                <a:cs typeface="FZLanTingHeiS-DB1-GBK"/>
                <a:sym typeface="FZLanTingHeiS-DB1-GBK"/>
              </a:defRPr>
            </a:lvl1pPr>
          </a:lstStyle>
          <a:p>
            <a:pPr defTabSz="531495" hangingPunct="1">
              <a:lnSpc>
                <a:spcPct val="120000"/>
              </a:lnSpc>
            </a:pPr>
            <a:r>
              <a:rPr kumimoji="1" lang="zh-CN" altLang="en-US" sz="3000" kern="1200" dirty="0" smtClean="0">
                <a:solidFill>
                  <a:schemeClr val="tx1"/>
                </a:solidFill>
                <a:latin typeface="SimHei" charset="-122"/>
                <a:ea typeface="SimHei" charset="-122"/>
                <a:cs typeface="SimHei" charset="-122"/>
              </a:rPr>
              <a:t>相关</a:t>
            </a:r>
            <a:r>
              <a:rPr kumimoji="1" lang="en-US" altLang="zh-CN" sz="3000" kern="1200" dirty="0">
                <a:solidFill>
                  <a:schemeClr val="tx1"/>
                </a:solidFill>
                <a:latin typeface="SimHei" charset="-122"/>
                <a:ea typeface="SimHei" charset="-122"/>
                <a:cs typeface="SimHei" charset="-122"/>
              </a:rPr>
              <a:t>API</a:t>
            </a:r>
            <a:r>
              <a:rPr kumimoji="1" lang="zh-CN" altLang="en-US" sz="3000" kern="1200" dirty="0">
                <a:solidFill>
                  <a:schemeClr val="tx1"/>
                </a:solidFill>
                <a:latin typeface="SimHei" charset="-122"/>
                <a:ea typeface="SimHei" charset="-122"/>
                <a:cs typeface="SimHei" charset="-122"/>
              </a:rPr>
              <a:t>使用</a:t>
            </a:r>
            <a:endParaRPr kumimoji="1" lang="zh-CN" altLang="en-US" sz="3000" kern="1200" dirty="0">
              <a:solidFill>
                <a:schemeClr val="tx1"/>
              </a:solidFill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33" name="TCL概况"/>
          <p:cNvSpPr txBox="1"/>
          <p:nvPr/>
        </p:nvSpPr>
        <p:spPr>
          <a:xfrm>
            <a:off x="2328687" y="3688758"/>
            <a:ext cx="6738965" cy="607393"/>
          </a:xfrm>
          <a:prstGeom prst="rect">
            <a:avLst/>
          </a:prstGeom>
          <a:ln w="12700">
            <a:miter lim="400000"/>
          </a:ln>
        </p:spPr>
        <p:txBody>
          <a:bodyPr wrap="square" lIns="36000" tIns="36000" rIns="36000" bIns="36000" anchor="t">
            <a:noAutofit/>
          </a:bodyPr>
          <a:lstStyle>
            <a:lvl1pPr algn="l" defTabSz="457200">
              <a:defRPr sz="4000" b="0">
                <a:solidFill>
                  <a:srgbClr val="5E5E5E"/>
                </a:solidFill>
                <a:latin typeface="FZLanTingHeiS-DB1-GBK"/>
                <a:ea typeface="FZLanTingHeiS-DB1-GBK"/>
                <a:cs typeface="FZLanTingHeiS-DB1-GBK"/>
                <a:sym typeface="FZLanTingHeiS-DB1-GBK"/>
              </a:defRPr>
            </a:lvl1pPr>
          </a:lstStyle>
          <a:p>
            <a:pPr defTabSz="531495" hangingPunct="1">
              <a:lnSpc>
                <a:spcPct val="120000"/>
              </a:lnSpc>
            </a:pPr>
            <a:r>
              <a:rPr kumimoji="1" lang="zh-CN" altLang="en-US" sz="3000" kern="1200" dirty="0">
                <a:solidFill>
                  <a:schemeClr val="tx1"/>
                </a:solidFill>
                <a:latin typeface="SimHei" charset="-122"/>
                <a:ea typeface="SimHei" charset="-122"/>
                <a:cs typeface="SimHei" charset="-122"/>
              </a:rPr>
              <a:t>核心实现原理</a:t>
            </a:r>
            <a:endParaRPr kumimoji="1" lang="zh-CN" altLang="en-US" sz="3000" kern="1200" dirty="0">
              <a:solidFill>
                <a:schemeClr val="tx1"/>
              </a:solidFill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34" name="TCL概况"/>
          <p:cNvSpPr txBox="1"/>
          <p:nvPr/>
        </p:nvSpPr>
        <p:spPr>
          <a:xfrm>
            <a:off x="2328688" y="4440185"/>
            <a:ext cx="6738965" cy="607393"/>
          </a:xfrm>
          <a:prstGeom prst="rect">
            <a:avLst/>
          </a:prstGeom>
          <a:ln w="12700">
            <a:miter lim="400000"/>
          </a:ln>
        </p:spPr>
        <p:txBody>
          <a:bodyPr wrap="square" lIns="36000" tIns="36000" rIns="36000" bIns="36000" anchor="t">
            <a:noAutofit/>
          </a:bodyPr>
          <a:lstStyle>
            <a:lvl1pPr algn="l" defTabSz="457200">
              <a:defRPr sz="4000" b="0">
                <a:solidFill>
                  <a:srgbClr val="5E5E5E"/>
                </a:solidFill>
                <a:latin typeface="FZLanTingHeiS-DB1-GBK"/>
                <a:ea typeface="FZLanTingHeiS-DB1-GBK"/>
                <a:cs typeface="FZLanTingHeiS-DB1-GBK"/>
                <a:sym typeface="FZLanTingHeiS-DB1-GBK"/>
              </a:defRPr>
            </a:lvl1pPr>
          </a:lstStyle>
          <a:p>
            <a:pPr defTabSz="531495" hangingPunct="1">
              <a:lnSpc>
                <a:spcPct val="120000"/>
              </a:lnSpc>
            </a:pPr>
            <a:r>
              <a:rPr kumimoji="1" lang="zh-CN" altLang="en-US" sz="3000" kern="1200" dirty="0">
                <a:solidFill>
                  <a:schemeClr val="tx1"/>
                </a:solidFill>
                <a:latin typeface="SimHei" charset="-122"/>
                <a:ea typeface="SimHei" charset="-122"/>
                <a:cs typeface="SimHei" charset="-122"/>
              </a:rPr>
              <a:t>补充 </a:t>
            </a:r>
            <a:r>
              <a:rPr kumimoji="1" lang="en-US" altLang="zh-CN" sz="3000" kern="1200" dirty="0">
                <a:solidFill>
                  <a:schemeClr val="tx1"/>
                </a:solidFill>
                <a:latin typeface="SimHei" charset="-122"/>
                <a:ea typeface="SimHei" charset="-122"/>
                <a:cs typeface="SimHei" charset="-122"/>
              </a:rPr>
              <a:t>&amp; </a:t>
            </a:r>
            <a:r>
              <a:rPr kumimoji="1" lang="zh-CN" altLang="en-US" sz="3000" kern="1200" dirty="0">
                <a:solidFill>
                  <a:schemeClr val="tx1"/>
                </a:solidFill>
                <a:latin typeface="SimHei" charset="-122"/>
                <a:ea typeface="SimHei" charset="-122"/>
                <a:cs typeface="SimHei" charset="-122"/>
              </a:rPr>
              <a:t>注意事项</a:t>
            </a:r>
            <a:endParaRPr kumimoji="1" lang="zh-CN" altLang="en-US" sz="3000" kern="1200" dirty="0">
              <a:solidFill>
                <a:schemeClr val="tx1"/>
              </a:solidFill>
              <a:latin typeface="SimHei" charset="-122"/>
              <a:ea typeface="SimHei" charset="-122"/>
              <a:cs typeface="SimHei" charset="-122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246"/>
          <p:cNvSpPr txBox="1"/>
          <p:nvPr/>
        </p:nvSpPr>
        <p:spPr>
          <a:xfrm>
            <a:off x="317499" y="709260"/>
            <a:ext cx="6661523" cy="457424"/>
          </a:xfrm>
          <a:prstGeom prst="rect">
            <a:avLst/>
          </a:prstGeom>
        </p:spPr>
        <p:txBody>
          <a:bodyPr lIns="36000" tIns="36000" rIns="36000" bIns="3600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9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2400" dirty="0" smtClean="0"/>
              <a:t>分区</a:t>
            </a:r>
            <a:r>
              <a:rPr lang="zh-CN" altLang="en-US" sz="2400" dirty="0"/>
              <a:t>存储</a:t>
            </a:r>
            <a:r>
              <a:rPr lang="en-US" altLang="zh-CN" sz="2400" dirty="0"/>
              <a:t>(Scope Storage)</a:t>
            </a:r>
            <a:r>
              <a:rPr lang="zh-CN" altLang="en-US" sz="2400" dirty="0"/>
              <a:t>引入的原因</a:t>
            </a:r>
            <a:endParaRPr lang="zh-CN" altLang="en-US" sz="2400" dirty="0"/>
          </a:p>
        </p:txBody>
      </p:sp>
      <p:sp>
        <p:nvSpPr>
          <p:cNvPr id="13" name="Shape 246"/>
          <p:cNvSpPr txBox="1"/>
          <p:nvPr/>
        </p:nvSpPr>
        <p:spPr>
          <a:xfrm>
            <a:off x="317499" y="1276047"/>
            <a:ext cx="4294841" cy="385311"/>
          </a:xfrm>
          <a:prstGeom prst="rect">
            <a:avLst/>
          </a:prstGeom>
        </p:spPr>
        <p:txBody>
          <a:bodyPr lIns="36000" tIns="36000" rIns="36000" bIns="3600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9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1800" b="0" dirty="0"/>
              <a:t>Android Q </a:t>
            </a:r>
            <a:r>
              <a:rPr lang="zh-CN" altLang="en-US" sz="1800" b="0" dirty="0"/>
              <a:t>之前的存储现状：</a:t>
            </a:r>
            <a:endParaRPr lang="zh-CN" altLang="en-US" sz="1800" b="0" dirty="0"/>
          </a:p>
        </p:txBody>
      </p:sp>
      <p:sp>
        <p:nvSpPr>
          <p:cNvPr id="2" name="幻灯片编号占位符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2E6D20B-5538-E34D-91FE-E40835CF0C83}" type="slidenum">
              <a:rPr kumimoji="1" lang="zh-CN" altLang="en-US" smtClean="0">
                <a:latin typeface="SimHei" charset="-122"/>
                <a:ea typeface="SimHei" charset="-122"/>
                <a:cs typeface="SimHei" charset="-122"/>
              </a:rPr>
            </a:fld>
            <a:endParaRPr kumimoji="1" lang="zh-CN" altLang="en-US" dirty="0"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17499" y="1873611"/>
            <a:ext cx="10981872" cy="3397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defTabSz="914400" hangingPunct="1">
              <a:lnSpc>
                <a:spcPct val="90000"/>
              </a:lnSpc>
              <a:spcBef>
                <a:spcPts val="1000"/>
              </a:spcBef>
            </a:pPr>
            <a:r>
              <a:rPr lang="zh-CN" altLang="en-US" sz="18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应用申请读写</a:t>
            </a:r>
            <a:r>
              <a:rPr lang="en-US" altLang="zh-CN" sz="18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STORAGE</a:t>
            </a:r>
            <a:r>
              <a:rPr lang="zh-CN" altLang="en-US" sz="18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权限就可以在外部存储任意目录读写</a:t>
            </a:r>
            <a:r>
              <a:rPr lang="en-US" altLang="zh-CN" sz="18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zh-CN" altLang="en-US" sz="18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创建</a:t>
            </a:r>
            <a:r>
              <a:rPr lang="en-US" altLang="zh-CN" sz="18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zh-CN" altLang="en-US" sz="18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删除文件</a:t>
            </a:r>
            <a:endParaRPr lang="zh-CN" altLang="en-US" sz="1800" b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17499" y="2473540"/>
            <a:ext cx="10981872" cy="3683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zh-CN" altLang="en-US" sz="18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两个问题</a:t>
            </a:r>
            <a:r>
              <a:rPr lang="zh-CN" altLang="en-US" sz="1600" b="0" dirty="0"/>
              <a:t>：</a:t>
            </a:r>
            <a:endParaRPr lang="zh-CN" altLang="en-US" sz="1600" b="0" dirty="0"/>
          </a:p>
        </p:txBody>
      </p:sp>
      <p:sp>
        <p:nvSpPr>
          <p:cNvPr id="7" name="矩形 6"/>
          <p:cNvSpPr/>
          <p:nvPr/>
        </p:nvSpPr>
        <p:spPr>
          <a:xfrm>
            <a:off x="317499" y="3055125"/>
            <a:ext cx="3162935" cy="3683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r>
              <a:rPr lang="zh-CN" altLang="en-US" sz="1800" dirty="0">
                <a:latin typeface="宋体" panose="02010600030101010101" pitchFamily="2" charset="-122"/>
                <a:ea typeface="宋体" panose="02010600030101010101" pitchFamily="2" charset="-122"/>
              </a:rPr>
              <a:t>功能性：卸载后残留文件垃圾</a:t>
            </a:r>
            <a:endParaRPr lang="zh-CN" altLang="en-US" sz="18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17499" y="3741387"/>
            <a:ext cx="7640320" cy="3683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r>
              <a:rPr lang="zh-CN" altLang="en-US" sz="1800" dirty="0">
                <a:latin typeface="宋体" panose="02010600030101010101" pitchFamily="2" charset="-122"/>
                <a:ea typeface="宋体" panose="02010600030101010101" pitchFamily="2" charset="-122"/>
              </a:rPr>
              <a:t>安全性：随意读写其他应用的外部存储数据目录 </a:t>
            </a:r>
            <a:r>
              <a:rPr lang="en-US" altLang="zh-CN" sz="1800" dirty="0">
                <a:latin typeface="宋体" panose="02010600030101010101" pitchFamily="2" charset="-122"/>
                <a:ea typeface="宋体" panose="02010600030101010101" pitchFamily="2" charset="-122"/>
              </a:rPr>
              <a:t>Android/data/</a:t>
            </a:r>
            <a:r>
              <a:rPr lang="en-US" altLang="zh-CN" sz="1800" dirty="0" err="1">
                <a:latin typeface="宋体" panose="02010600030101010101" pitchFamily="2" charset="-122"/>
                <a:ea typeface="宋体" panose="02010600030101010101" pitchFamily="2" charset="-122"/>
              </a:rPr>
              <a:t>package_name</a:t>
            </a:r>
            <a:endParaRPr lang="zh-CN" altLang="en-US" sz="18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17499" y="4536840"/>
            <a:ext cx="9708244" cy="6451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US" altLang="zh-CN" sz="18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Scope</a:t>
            </a:r>
            <a:r>
              <a:rPr lang="zh-CN" altLang="en-US" sz="18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有作用域</a:t>
            </a:r>
            <a:r>
              <a:rPr lang="en-US" altLang="zh-CN" sz="18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zh-CN" altLang="en-US" sz="18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范围意思，引入分区存储</a:t>
            </a:r>
            <a:r>
              <a:rPr lang="en-US" altLang="zh-CN" sz="18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(Scope Storage)</a:t>
            </a:r>
            <a:r>
              <a:rPr lang="zh-CN" altLang="en-US" sz="18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引入的目的就是限制应用对外部存储任意访问的限制，保护应用数据，在</a:t>
            </a:r>
            <a:r>
              <a:rPr lang="en-US" altLang="zh-CN" sz="18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Android Q</a:t>
            </a:r>
            <a:r>
              <a:rPr lang="zh-CN" altLang="en-US" sz="18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引入，</a:t>
            </a:r>
            <a:r>
              <a:rPr lang="en-US" altLang="zh-CN" sz="18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Android R</a:t>
            </a:r>
            <a:r>
              <a:rPr lang="zh-CN" altLang="en-US" sz="18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进一步增强 </a:t>
            </a:r>
            <a:endParaRPr lang="zh-CN" altLang="en-US" sz="1800" b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246"/>
          <p:cNvSpPr txBox="1"/>
          <p:nvPr/>
        </p:nvSpPr>
        <p:spPr>
          <a:xfrm>
            <a:off x="317499" y="709260"/>
            <a:ext cx="6661523" cy="457424"/>
          </a:xfrm>
          <a:prstGeom prst="rect">
            <a:avLst/>
          </a:prstGeom>
        </p:spPr>
        <p:txBody>
          <a:bodyPr lIns="36000" tIns="36000" rIns="36000" bIns="3600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9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2400" dirty="0"/>
              <a:t>存储文件分类</a:t>
            </a:r>
            <a:endParaRPr lang="zh-CN" altLang="en-US" sz="2400" dirty="0"/>
          </a:p>
        </p:txBody>
      </p:sp>
      <p:sp>
        <p:nvSpPr>
          <p:cNvPr id="13" name="Shape 246"/>
          <p:cNvSpPr txBox="1"/>
          <p:nvPr/>
        </p:nvSpPr>
        <p:spPr>
          <a:xfrm>
            <a:off x="317498" y="1276047"/>
            <a:ext cx="5778502" cy="354533"/>
          </a:xfrm>
          <a:prstGeom prst="rect">
            <a:avLst/>
          </a:prstGeom>
        </p:spPr>
        <p:txBody>
          <a:bodyPr lIns="36000" tIns="36000" rIns="36000" bIns="3600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9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2000" b="0" dirty="0"/>
              <a:t>对用户来说，应用的存储的文件可以分为三类：</a:t>
            </a:r>
            <a:endParaRPr lang="zh-CN" altLang="en-US" sz="2000" b="0" dirty="0"/>
          </a:p>
        </p:txBody>
      </p:sp>
      <p:sp>
        <p:nvSpPr>
          <p:cNvPr id="2" name="幻灯片编号占位符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2E6D20B-5538-E34D-91FE-E40835CF0C83}" type="slidenum">
              <a:rPr kumimoji="1" lang="zh-CN" altLang="en-US" smtClean="0">
                <a:latin typeface="SimHei" charset="-122"/>
                <a:ea typeface="SimHei" charset="-122"/>
                <a:cs typeface="SimHei" charset="-122"/>
              </a:rPr>
            </a:fld>
            <a:endParaRPr kumimoji="1" lang="zh-CN" altLang="en-US" dirty="0"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317499" y="2337040"/>
            <a:ext cx="2049780" cy="39878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42900" indent="-342900" algn="l">
              <a:buFont typeface="Arial" panose="020B0604020202090204" pitchFamily="34" charset="0"/>
              <a:buChar char="•"/>
            </a:pPr>
            <a:r>
              <a:rPr lang="zh-CN" altLang="en-US" sz="2000" b="0" kern="1200" dirty="0">
                <a:solidFill>
                  <a:prstClr val="black"/>
                </a:solidFill>
                <a:latin typeface="宋体" charset="0"/>
                <a:ea typeface="宋体" panose="02010600030101010101" pitchFamily="2" charset="-122"/>
                <a:cs typeface="宋体" charset="0"/>
              </a:rPr>
              <a:t>应用数据文件</a:t>
            </a:r>
            <a:endParaRPr lang="zh-CN" altLang="en-US" sz="18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299467" y="3449314"/>
            <a:ext cx="3330761" cy="398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90204" pitchFamily="34" charset="0"/>
              <a:buChar char="•"/>
            </a:pPr>
            <a:r>
              <a:rPr lang="zh-CN" altLang="en-US" sz="2000" b="0" kern="1200" dirty="0" smtClean="0">
                <a:solidFill>
                  <a:srgbClr val="FF0000"/>
                </a:solidFill>
                <a:latin typeface="宋体" charset="0"/>
                <a:ea typeface="宋体" panose="02010600030101010101" pitchFamily="2" charset="-122"/>
                <a:cs typeface="宋体" charset="0"/>
              </a:rPr>
              <a:t>媒体</a:t>
            </a:r>
            <a:r>
              <a:rPr lang="zh-CN" altLang="en-US" sz="2000" b="0" kern="1200" dirty="0">
                <a:solidFill>
                  <a:srgbClr val="FF0000"/>
                </a:solidFill>
                <a:latin typeface="宋体" charset="0"/>
                <a:ea typeface="宋体" panose="02010600030101010101" pitchFamily="2" charset="-122"/>
                <a:cs typeface="宋体" charset="0"/>
              </a:rPr>
              <a:t>文件</a:t>
            </a:r>
            <a:endParaRPr lang="zh-CN" altLang="en-US" sz="2000" b="0" kern="1200" dirty="0">
              <a:solidFill>
                <a:srgbClr val="FF0000"/>
              </a:solidFill>
              <a:latin typeface="宋体" charset="0"/>
              <a:ea typeface="宋体" panose="02010600030101010101" pitchFamily="2" charset="-122"/>
              <a:cs typeface="宋体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299466" y="4555884"/>
            <a:ext cx="3330761" cy="398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90204" pitchFamily="34" charset="0"/>
              <a:buChar char="•"/>
            </a:pPr>
            <a:r>
              <a:rPr lang="zh-CN" altLang="en-US" sz="2000" b="0" kern="1200" dirty="0" smtClean="0">
                <a:solidFill>
                  <a:prstClr val="black"/>
                </a:solidFill>
                <a:latin typeface="宋体" charset="0"/>
                <a:ea typeface="宋体" panose="02010600030101010101" pitchFamily="2" charset="-122"/>
                <a:cs typeface="宋体" charset="0"/>
              </a:rPr>
              <a:t>文档</a:t>
            </a:r>
            <a:r>
              <a:rPr lang="zh-CN" altLang="en-US" sz="2000" b="0" kern="1200" dirty="0">
                <a:solidFill>
                  <a:prstClr val="black"/>
                </a:solidFill>
                <a:latin typeface="宋体" charset="0"/>
                <a:ea typeface="宋体" panose="02010600030101010101" pitchFamily="2" charset="-122"/>
                <a:cs typeface="宋体" charset="0"/>
              </a:rPr>
              <a:t>以及其他文件</a:t>
            </a:r>
            <a:endParaRPr lang="zh-CN" altLang="en-US" sz="2000" b="0" kern="1200" dirty="0">
              <a:solidFill>
                <a:prstClr val="black"/>
              </a:solidFill>
              <a:latin typeface="宋体" charset="0"/>
              <a:ea typeface="宋体" panose="02010600030101010101" pitchFamily="2" charset="-122"/>
              <a:cs typeface="宋体" charset="0"/>
            </a:endParaRPr>
          </a:p>
        </p:txBody>
      </p:sp>
      <p:sp>
        <p:nvSpPr>
          <p:cNvPr id="10" name="标题 2"/>
          <p:cNvSpPr>
            <a:spLocks noGrp="1"/>
          </p:cNvSpPr>
          <p:nvPr>
            <p:ph type="title" idx="4294967295"/>
          </p:nvPr>
        </p:nvSpPr>
        <p:spPr>
          <a:xfrm>
            <a:off x="0" y="344805"/>
            <a:ext cx="5443855" cy="264795"/>
          </a:xfrm>
        </p:spPr>
        <p:txBody>
          <a:bodyPr/>
          <a:lstStyle/>
          <a:p>
            <a:pPr defTabSz="531495" hangingPunct="1">
              <a:lnSpc>
                <a:spcPct val="120000"/>
              </a:lnSpc>
            </a:pPr>
            <a:r>
              <a:rPr kumimoji="1" lang="zh-CN" altLang="en-US" dirty="0">
                <a:latin typeface="SimHei" charset="-122"/>
                <a:ea typeface="SimHei" charset="-122"/>
                <a:cs typeface="SimHei" charset="-122"/>
              </a:rPr>
              <a:t>分区存储介绍</a:t>
            </a:r>
            <a:endParaRPr kumimoji="1" lang="zh-CN" altLang="en-US" dirty="0">
              <a:latin typeface="SimHei" charset="-122"/>
              <a:ea typeface="SimHei" charset="-122"/>
              <a:cs typeface="SimHei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246"/>
          <p:cNvSpPr txBox="1"/>
          <p:nvPr/>
        </p:nvSpPr>
        <p:spPr>
          <a:xfrm>
            <a:off x="317499" y="709260"/>
            <a:ext cx="6661523" cy="457424"/>
          </a:xfrm>
          <a:prstGeom prst="rect">
            <a:avLst/>
          </a:prstGeom>
        </p:spPr>
        <p:txBody>
          <a:bodyPr lIns="36000" tIns="36000" rIns="36000" bIns="3600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9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2400" dirty="0"/>
              <a:t>应用数据文件</a:t>
            </a:r>
            <a:endParaRPr lang="zh-CN" altLang="en-US" sz="2400" dirty="0"/>
          </a:p>
        </p:txBody>
      </p:sp>
      <p:sp>
        <p:nvSpPr>
          <p:cNvPr id="2" name="幻灯片编号占位符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2E6D20B-5538-E34D-91FE-E40835CF0C83}" type="slidenum">
              <a:rPr kumimoji="1" lang="zh-CN" altLang="en-US" smtClean="0">
                <a:latin typeface="SimHei" charset="-122"/>
                <a:ea typeface="SimHei" charset="-122"/>
                <a:cs typeface="SimHei" charset="-122"/>
              </a:rPr>
            </a:fld>
            <a:endParaRPr kumimoji="1" lang="zh-CN" altLang="en-US" dirty="0"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223610" y="1334373"/>
            <a:ext cx="10979378" cy="39077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</a:rPr>
              <a:t>内容</a:t>
            </a:r>
            <a:r>
              <a:rPr lang="zh-CN" altLang="en-US" sz="2000" b="0" dirty="0" smtClean="0">
                <a:latin typeface="宋体" panose="02010600030101010101" pitchFamily="2" charset="-122"/>
                <a:ea typeface="宋体" panose="02010600030101010101" pitchFamily="2" charset="-122"/>
              </a:rPr>
              <a:t>：应用</a:t>
            </a:r>
            <a:r>
              <a:rPr lang="zh-CN" altLang="en-US" sz="2000" b="0" dirty="0">
                <a:latin typeface="宋体" panose="02010600030101010101" pitchFamily="2" charset="-122"/>
                <a:ea typeface="宋体" panose="02010600030101010101" pitchFamily="2" charset="-122"/>
              </a:rPr>
              <a:t>数据文件、应用缓存、</a:t>
            </a:r>
            <a:r>
              <a:rPr lang="en-US" altLang="zh-CN" sz="2000" b="0" dirty="0">
                <a:latin typeface="宋体" panose="02010600030101010101" pitchFamily="2" charset="-122"/>
                <a:ea typeface="宋体" panose="02010600030101010101" pitchFamily="2" charset="-122"/>
              </a:rPr>
              <a:t>Preferences </a:t>
            </a:r>
            <a:r>
              <a:rPr lang="zh-CN" altLang="en-US" sz="2000" b="0" dirty="0">
                <a:latin typeface="宋体" panose="02010600030101010101" pitchFamily="2" charset="-122"/>
                <a:ea typeface="宋体" panose="02010600030101010101" pitchFamily="2" charset="-122"/>
              </a:rPr>
              <a:t>、应用数据库 </a:t>
            </a:r>
            <a:endParaRPr lang="zh-CN" altLang="en-US" sz="2000" b="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/>
            <a:br>
              <a:rPr lang="zh-CN" altLang="en-US" sz="1600" b="0" dirty="0">
                <a:latin typeface="宋体" panose="02010600030101010101" pitchFamily="2" charset="-122"/>
                <a:ea typeface="宋体" panose="02010600030101010101" pitchFamily="2" charset="-122"/>
              </a:rPr>
            </a:br>
            <a:r>
              <a:rPr lang="zh-CN" altLang="en-US" sz="1800" dirty="0">
                <a:latin typeface="宋体" panose="02010600030101010101" pitchFamily="2" charset="-122"/>
                <a:ea typeface="宋体" panose="02010600030101010101" pitchFamily="2" charset="-122"/>
              </a:rPr>
              <a:t>访问方式</a:t>
            </a:r>
            <a:r>
              <a:rPr lang="zh-CN" altLang="en-US" sz="1800" b="0" dirty="0">
                <a:latin typeface="宋体" panose="02010600030101010101" pitchFamily="2" charset="-122"/>
                <a:ea typeface="宋体" panose="02010600030101010101" pitchFamily="2" charset="-122"/>
              </a:rPr>
              <a:t>： </a:t>
            </a:r>
            <a:r>
              <a:rPr lang="en-US" altLang="zh-CN" sz="1800" b="0" dirty="0" err="1">
                <a:latin typeface="宋体" panose="02010600030101010101" pitchFamily="2" charset="-122"/>
                <a:ea typeface="宋体" panose="02010600030101010101" pitchFamily="2" charset="-122"/>
              </a:rPr>
              <a:t>getFileDir</a:t>
            </a:r>
            <a:r>
              <a:rPr lang="en-US" altLang="zh-CN" sz="1800" b="0" dirty="0">
                <a:latin typeface="宋体" panose="02010600030101010101" pitchFamily="2" charset="-122"/>
                <a:ea typeface="宋体" panose="02010600030101010101" pitchFamily="2" charset="-122"/>
              </a:rPr>
              <a:t>()  </a:t>
            </a:r>
            <a:r>
              <a:rPr lang="en-US" altLang="zh-CN" sz="1800" b="0" dirty="0" err="1">
                <a:latin typeface="宋体" panose="02010600030101010101" pitchFamily="2" charset="-122"/>
                <a:ea typeface="宋体" panose="02010600030101010101" pitchFamily="2" charset="-122"/>
              </a:rPr>
              <a:t>getCacheDir</a:t>
            </a:r>
            <a:r>
              <a:rPr lang="en-US" altLang="zh-CN" sz="1800" b="0" dirty="0">
                <a:latin typeface="宋体" panose="02010600030101010101" pitchFamily="2" charset="-122"/>
                <a:ea typeface="宋体" panose="02010600030101010101" pitchFamily="2" charset="-122"/>
              </a:rPr>
              <a:t>()   </a:t>
            </a:r>
            <a:r>
              <a:rPr lang="en-US" altLang="zh-CN" sz="1800" b="0" dirty="0" err="1">
                <a:latin typeface="宋体" panose="02010600030101010101" pitchFamily="2" charset="-122"/>
                <a:ea typeface="宋体" panose="02010600030101010101" pitchFamily="2" charset="-122"/>
              </a:rPr>
              <a:t>getExternalFilesDir</a:t>
            </a:r>
            <a:r>
              <a:rPr lang="en-US" altLang="zh-CN" sz="1800" b="0" dirty="0">
                <a:latin typeface="宋体" panose="02010600030101010101" pitchFamily="2" charset="-122"/>
                <a:ea typeface="宋体" panose="02010600030101010101" pitchFamily="2" charset="-122"/>
              </a:rPr>
              <a:t>()  </a:t>
            </a:r>
            <a:r>
              <a:rPr lang="en-US" altLang="zh-CN" sz="1800" b="0" dirty="0" err="1">
                <a:latin typeface="宋体" panose="02010600030101010101" pitchFamily="2" charset="-122"/>
                <a:ea typeface="宋体" panose="02010600030101010101" pitchFamily="2" charset="-122"/>
              </a:rPr>
              <a:t>getExternalCacheDir</a:t>
            </a:r>
            <a:r>
              <a:rPr lang="en-US" altLang="zh-CN" sz="1800" b="0" dirty="0">
                <a:latin typeface="宋体" panose="02010600030101010101" pitchFamily="2" charset="-122"/>
                <a:ea typeface="宋体" panose="02010600030101010101" pitchFamily="2" charset="-122"/>
              </a:rPr>
              <a:t>()....</a:t>
            </a:r>
            <a:endParaRPr lang="zh-CN" altLang="en-US" sz="1800" b="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/>
            <a:endParaRPr lang="zh-CN" altLang="en-US" sz="1600" b="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/>
            <a:r>
              <a:rPr lang="zh-CN" altLang="en-US" sz="1800" dirty="0">
                <a:latin typeface="宋体" panose="02010600030101010101" pitchFamily="2" charset="-122"/>
                <a:ea typeface="宋体" panose="02010600030101010101" pitchFamily="2" charset="-122"/>
              </a:rPr>
              <a:t>权限</a:t>
            </a:r>
            <a:r>
              <a:rPr lang="en-US" altLang="zh-CN" sz="1600" b="0" dirty="0">
                <a:latin typeface="宋体" panose="02010600030101010101" pitchFamily="2" charset="-122"/>
                <a:ea typeface="宋体" panose="02010600030101010101" pitchFamily="2" charset="-122"/>
              </a:rPr>
              <a:t>: </a:t>
            </a:r>
            <a:r>
              <a:rPr lang="zh-CN" altLang="en-US" sz="1600" b="0" dirty="0" smtClean="0">
                <a:latin typeface="宋体" panose="02010600030101010101" pitchFamily="2" charset="-122"/>
                <a:ea typeface="宋体" panose="02010600030101010101" pitchFamily="2" charset="-122"/>
              </a:rPr>
              <a:t>不</a:t>
            </a:r>
            <a:r>
              <a:rPr lang="zh-CN" altLang="en-US" sz="1600" b="0" dirty="0">
                <a:latin typeface="宋体" panose="02010600030101010101" pitchFamily="2" charset="-122"/>
                <a:ea typeface="宋体" panose="02010600030101010101" pitchFamily="2" charset="-122"/>
              </a:rPr>
              <a:t>需要权限可</a:t>
            </a:r>
            <a:r>
              <a:rPr lang="zh-CN" altLang="en-US" sz="1600" b="0" dirty="0" smtClean="0">
                <a:latin typeface="宋体" panose="02010600030101010101" pitchFamily="2" charset="-122"/>
                <a:ea typeface="宋体" panose="02010600030101010101" pitchFamily="2" charset="-122"/>
              </a:rPr>
              <a:t>访问</a:t>
            </a:r>
            <a:endParaRPr lang="en-US" altLang="zh-CN" sz="1600" b="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/>
            <a:endParaRPr lang="en-US" altLang="zh-CN" sz="1600" b="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/>
            <a:endParaRPr lang="zh-CN" altLang="en-US" sz="1600" b="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/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其他应用访问</a:t>
            </a:r>
            <a:r>
              <a:rPr lang="zh-CN" altLang="en-US" sz="1600" b="0" dirty="0">
                <a:latin typeface="宋体" panose="02010600030101010101" pitchFamily="2" charset="-122"/>
                <a:ea typeface="宋体" panose="02010600030101010101" pitchFamily="2" charset="-122"/>
              </a:rPr>
              <a:t>：内部存储的文件 （</a:t>
            </a:r>
            <a:r>
              <a:rPr lang="en-US" altLang="zh-CN" sz="1600" b="0" dirty="0">
                <a:latin typeface="宋体" panose="02010600030101010101" pitchFamily="2" charset="-122"/>
                <a:ea typeface="宋体" panose="02010600030101010101" pitchFamily="2" charset="-122"/>
              </a:rPr>
              <a:t>/data/data/</a:t>
            </a:r>
            <a:r>
              <a:rPr lang="en-US" altLang="zh-CN" sz="1600" b="0" dirty="0" err="1">
                <a:latin typeface="宋体" panose="02010600030101010101" pitchFamily="2" charset="-122"/>
                <a:ea typeface="宋体" panose="02010600030101010101" pitchFamily="2" charset="-122"/>
              </a:rPr>
              <a:t>package_name</a:t>
            </a:r>
            <a:r>
              <a:rPr lang="zh-CN" altLang="en-US" sz="1600" b="0" dirty="0">
                <a:latin typeface="宋体" panose="02010600030101010101" pitchFamily="2" charset="-122"/>
                <a:ea typeface="宋体" panose="02010600030101010101" pitchFamily="2" charset="-122"/>
              </a:rPr>
              <a:t>），不可访问</a:t>
            </a:r>
            <a:endParaRPr lang="zh-CN" altLang="en-US" sz="1600" b="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/>
            <a:r>
              <a:rPr lang="zh-CN" altLang="en-US" sz="1600" b="0" dirty="0">
                <a:latin typeface="宋体" panose="02010600030101010101" pitchFamily="2" charset="-122"/>
                <a:ea typeface="宋体" panose="02010600030101010101" pitchFamily="2" charset="-122"/>
              </a:rPr>
              <a:t>		</a:t>
            </a:r>
            <a:endParaRPr lang="en-US" altLang="zh-CN" sz="1600" b="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/>
            <a:endParaRPr lang="zh-CN" altLang="en-US" sz="1600" b="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/>
            <a:r>
              <a:rPr lang="zh-CN" altLang="en-US" sz="1600" b="0" dirty="0" smtClean="0">
                <a:latin typeface="宋体" panose="02010600030101010101" pitchFamily="2" charset="-122"/>
                <a:ea typeface="宋体" panose="02010600030101010101" pitchFamily="2" charset="-122"/>
              </a:rPr>
              <a:t>              </a:t>
            </a:r>
            <a:r>
              <a:rPr lang="zh-CN" altLang="en-US" sz="1600" b="0" dirty="0" smtClean="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外部</a:t>
            </a:r>
            <a:r>
              <a:rPr lang="zh-CN" altLang="en-US" sz="1600" b="0" dirty="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存储文件</a:t>
            </a:r>
            <a:r>
              <a:rPr lang="en-US" altLang="zh-CN" sz="1600" b="0" dirty="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(Android/data/</a:t>
            </a:r>
            <a:r>
              <a:rPr lang="en-US" altLang="zh-CN" sz="1600" b="0" dirty="0" err="1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packate_name</a:t>
            </a:r>
            <a:r>
              <a:rPr lang="en-US" altLang="zh-CN" sz="1600" b="0" dirty="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)</a:t>
            </a:r>
            <a:r>
              <a:rPr lang="zh-CN" altLang="en-US" sz="1600" b="0" dirty="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，</a:t>
            </a:r>
            <a:r>
              <a:rPr lang="en-US" altLang="zh-CN" sz="1600" b="0" dirty="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Android 11</a:t>
            </a:r>
            <a:r>
              <a:rPr lang="zh-CN" altLang="en-US" sz="1600" b="0" dirty="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以前可以，之后不可以</a:t>
            </a:r>
            <a:br>
              <a:rPr lang="zh-CN" altLang="en-US" sz="1600" b="0" dirty="0">
                <a:latin typeface="宋体" panose="02010600030101010101" pitchFamily="2" charset="-122"/>
                <a:ea typeface="宋体" panose="02010600030101010101" pitchFamily="2" charset="-122"/>
              </a:rPr>
            </a:br>
            <a:endParaRPr lang="en-US" altLang="zh-CN" sz="1600" b="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/>
            <a:br>
              <a:rPr lang="zh-CN" altLang="en-US" sz="1600" b="0" dirty="0">
                <a:latin typeface="宋体" panose="02010600030101010101" pitchFamily="2" charset="-122"/>
                <a:ea typeface="宋体" panose="02010600030101010101" pitchFamily="2" charset="-122"/>
              </a:rPr>
            </a:br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APK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卸载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是否保留</a:t>
            </a:r>
            <a:r>
              <a:rPr lang="en-US" altLang="zh-CN" sz="1600" b="0" dirty="0">
                <a:latin typeface="宋体" panose="02010600030101010101" pitchFamily="2" charset="-122"/>
                <a:ea typeface="宋体" panose="02010600030101010101" pitchFamily="2" charset="-122"/>
              </a:rPr>
              <a:t>: </a:t>
            </a:r>
            <a:r>
              <a:rPr lang="zh-CN" altLang="en-US" sz="1600" b="0" dirty="0">
                <a:latin typeface="宋体" panose="02010600030101010101" pitchFamily="2" charset="-122"/>
                <a:ea typeface="宋体" panose="02010600030101010101" pitchFamily="2" charset="-122"/>
              </a:rPr>
              <a:t>否</a:t>
            </a:r>
            <a:endParaRPr lang="zh-CN" altLang="en-US" sz="1600" b="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/>
            <a:endParaRPr lang="zh-CN" altLang="en-US" sz="1600" b="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" name="标题 2"/>
          <p:cNvSpPr>
            <a:spLocks noGrp="1"/>
          </p:cNvSpPr>
          <p:nvPr>
            <p:ph type="title" idx="4294967295"/>
          </p:nvPr>
        </p:nvSpPr>
        <p:spPr>
          <a:xfrm>
            <a:off x="0" y="344805"/>
            <a:ext cx="5443855" cy="264795"/>
          </a:xfrm>
        </p:spPr>
        <p:txBody>
          <a:bodyPr/>
          <a:lstStyle/>
          <a:p>
            <a:pPr defTabSz="531495" hangingPunct="1">
              <a:lnSpc>
                <a:spcPct val="120000"/>
              </a:lnSpc>
            </a:pPr>
            <a:r>
              <a:rPr kumimoji="1" lang="zh-CN" altLang="en-US" dirty="0">
                <a:latin typeface="SimHei" charset="-122"/>
                <a:ea typeface="SimHei" charset="-122"/>
                <a:cs typeface="SimHei" charset="-122"/>
              </a:rPr>
              <a:t>分区存储介绍</a:t>
            </a:r>
            <a:endParaRPr kumimoji="1" lang="zh-CN" altLang="en-US" dirty="0">
              <a:latin typeface="SimHei" charset="-122"/>
              <a:ea typeface="SimHei" charset="-122"/>
              <a:cs typeface="SimHei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246"/>
          <p:cNvSpPr txBox="1"/>
          <p:nvPr/>
        </p:nvSpPr>
        <p:spPr>
          <a:xfrm>
            <a:off x="317499" y="709260"/>
            <a:ext cx="6661523" cy="457424"/>
          </a:xfrm>
          <a:prstGeom prst="rect">
            <a:avLst/>
          </a:prstGeom>
        </p:spPr>
        <p:txBody>
          <a:bodyPr lIns="36000" tIns="36000" rIns="36000" bIns="3600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9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2400" dirty="0"/>
              <a:t>媒体文件</a:t>
            </a:r>
            <a:endParaRPr lang="zh-CN" altLang="en-US" sz="2400" dirty="0"/>
          </a:p>
        </p:txBody>
      </p:sp>
      <p:sp>
        <p:nvSpPr>
          <p:cNvPr id="2" name="幻灯片编号占位符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2E6D20B-5538-E34D-91FE-E40835CF0C83}" type="slidenum">
              <a:rPr kumimoji="1" lang="zh-CN" altLang="en-US" smtClean="0">
                <a:latin typeface="SimHei" charset="-122"/>
                <a:ea typeface="SimHei" charset="-122"/>
                <a:cs typeface="SimHei" charset="-122"/>
              </a:rPr>
            </a:fld>
            <a:endParaRPr kumimoji="1" lang="zh-CN" altLang="en-US" dirty="0"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223610" y="1334373"/>
            <a:ext cx="2127704" cy="46774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</a:rPr>
              <a:t>内容</a:t>
            </a:r>
            <a:r>
              <a:rPr lang="zh-CN" altLang="en-US" sz="2000" b="0" dirty="0" smtClean="0">
                <a:latin typeface="宋体" panose="02010600030101010101" pitchFamily="2" charset="-122"/>
                <a:ea typeface="宋体" panose="02010600030101010101" pitchFamily="2" charset="-122"/>
              </a:rPr>
              <a:t>：</a:t>
            </a:r>
            <a:endParaRPr lang="zh-CN" altLang="en-US" sz="2000" b="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/>
            <a:br>
              <a:rPr lang="zh-CN" altLang="en-US" sz="1600" b="0" dirty="0">
                <a:latin typeface="宋体" panose="02010600030101010101" pitchFamily="2" charset="-122"/>
                <a:ea typeface="宋体" panose="02010600030101010101" pitchFamily="2" charset="-122"/>
              </a:rPr>
            </a:br>
            <a:r>
              <a:rPr lang="zh-CN" altLang="en-US" sz="1800" dirty="0" smtClean="0">
                <a:latin typeface="宋体" panose="02010600030101010101" pitchFamily="2" charset="-122"/>
                <a:ea typeface="宋体" panose="02010600030101010101" pitchFamily="2" charset="-122"/>
              </a:rPr>
              <a:t>访问</a:t>
            </a:r>
            <a:r>
              <a:rPr lang="zh-CN" altLang="en-US" sz="1800" dirty="0">
                <a:latin typeface="宋体" panose="02010600030101010101" pitchFamily="2" charset="-122"/>
                <a:ea typeface="宋体" panose="02010600030101010101" pitchFamily="2" charset="-122"/>
              </a:rPr>
              <a:t>方式</a:t>
            </a:r>
            <a:r>
              <a:rPr lang="zh-CN" altLang="en-US" sz="1800" b="0" dirty="0" smtClean="0">
                <a:latin typeface="宋体" panose="02010600030101010101" pitchFamily="2" charset="-122"/>
                <a:ea typeface="宋体" panose="02010600030101010101" pitchFamily="2" charset="-122"/>
              </a:rPr>
              <a:t>：</a:t>
            </a:r>
            <a:endParaRPr lang="en-US" altLang="zh-CN" sz="1800" b="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/>
            <a:endParaRPr lang="en-US" altLang="zh-CN" sz="1800" b="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/>
            <a:r>
              <a:rPr lang="zh-CN" altLang="en-US" sz="1800" dirty="0" smtClean="0">
                <a:latin typeface="宋体" panose="02010600030101010101" pitchFamily="2" charset="-122"/>
                <a:ea typeface="宋体" panose="02010600030101010101" pitchFamily="2" charset="-122"/>
              </a:rPr>
              <a:t>权限</a:t>
            </a:r>
            <a:r>
              <a:rPr lang="en-US" altLang="zh-CN" sz="1600" b="0" dirty="0" smtClean="0">
                <a:latin typeface="宋体" panose="02010600030101010101" pitchFamily="2" charset="-122"/>
                <a:ea typeface="宋体" panose="02010600030101010101" pitchFamily="2" charset="-122"/>
              </a:rPr>
              <a:t>:</a:t>
            </a:r>
            <a:endParaRPr lang="en-US" altLang="zh-CN" sz="1600" b="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/>
            <a:endParaRPr lang="en-US" altLang="zh-CN" sz="1600" b="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/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/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/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/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/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/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/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其他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应用访问</a:t>
            </a:r>
            <a:r>
              <a:rPr lang="zh-CN" altLang="en-US" sz="1600" b="0" dirty="0" smtClean="0">
                <a:latin typeface="宋体" panose="02010600030101010101" pitchFamily="2" charset="-122"/>
                <a:ea typeface="宋体" panose="02010600030101010101" pitchFamily="2" charset="-122"/>
              </a:rPr>
              <a:t>：</a:t>
            </a:r>
            <a:r>
              <a:rPr lang="zh-CN" altLang="en-US" sz="1600" b="0" dirty="0">
                <a:latin typeface="宋体" panose="02010600030101010101" pitchFamily="2" charset="-122"/>
                <a:ea typeface="宋体" panose="02010600030101010101" pitchFamily="2" charset="-122"/>
              </a:rPr>
              <a:t>		</a:t>
            </a:r>
            <a:endParaRPr lang="en-US" altLang="zh-CN" sz="1600" b="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/>
            <a:r>
              <a:rPr lang="zh-CN" altLang="en-US" sz="1600" b="0" dirty="0" smtClean="0">
                <a:latin typeface="宋体" panose="02010600030101010101" pitchFamily="2" charset="-122"/>
                <a:ea typeface="宋体" panose="02010600030101010101" pitchFamily="2" charset="-122"/>
              </a:rPr>
              <a:t>      </a:t>
            </a:r>
            <a:endParaRPr lang="en-US" altLang="zh-CN" sz="1600" b="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/>
            <a:r>
              <a:rPr lang="en-US" altLang="zh-CN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APK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卸载是否保留</a:t>
            </a:r>
            <a:r>
              <a:rPr lang="en-US" altLang="zh-CN" sz="1600" b="0" dirty="0" smtClean="0">
                <a:latin typeface="宋体" panose="02010600030101010101" pitchFamily="2" charset="-122"/>
                <a:ea typeface="宋体" panose="02010600030101010101" pitchFamily="2" charset="-122"/>
              </a:rPr>
              <a:t>: </a:t>
            </a:r>
            <a:r>
              <a:rPr lang="zh-CN" altLang="en-US" sz="1600" b="0" dirty="0" smtClean="0">
                <a:latin typeface="宋体" panose="02010600030101010101" pitchFamily="2" charset="-122"/>
                <a:ea typeface="宋体" panose="02010600030101010101" pitchFamily="2" charset="-122"/>
              </a:rPr>
              <a:t>是</a:t>
            </a:r>
            <a:endParaRPr lang="zh-CN" altLang="en-US" sz="1600" b="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/>
            <a:endParaRPr lang="zh-CN" altLang="en-US" sz="1600" b="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1287462" y="1362460"/>
            <a:ext cx="4817110" cy="39878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r>
              <a:rPr lang="zh-CN" altLang="en-US" sz="2000" b="0" dirty="0">
                <a:latin typeface="宋体" panose="02010600030101010101" pitchFamily="2" charset="-122"/>
                <a:ea typeface="宋体" panose="02010600030101010101" pitchFamily="2" charset="-122"/>
              </a:rPr>
              <a:t>共享的图片，音频，</a:t>
            </a:r>
            <a:r>
              <a:rPr lang="zh-CN" altLang="en-US" sz="2000" b="0" dirty="0" smtClean="0">
                <a:latin typeface="宋体" panose="02010600030101010101" pitchFamily="2" charset="-122"/>
                <a:ea typeface="宋体" panose="02010600030101010101" pitchFamily="2" charset="-122"/>
              </a:rPr>
              <a:t>视频， </a:t>
            </a:r>
            <a:r>
              <a:rPr lang="zh-CN" altLang="en-US" sz="2000" b="0" dirty="0">
                <a:latin typeface="宋体" panose="02010600030101010101" pitchFamily="2" charset="-122"/>
                <a:ea typeface="宋体" panose="02010600030101010101" pitchFamily="2" charset="-122"/>
              </a:rPr>
              <a:t>（下载文件）</a:t>
            </a:r>
            <a:endParaRPr lang="zh-CN" altLang="en-US" sz="2000" b="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287462" y="1858773"/>
            <a:ext cx="5759450" cy="398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zh-CN" altLang="en-US" sz="2000" b="0" dirty="0">
                <a:latin typeface="宋体" panose="02010600030101010101" pitchFamily="2" charset="-122"/>
                <a:ea typeface="宋体" panose="02010600030101010101" pitchFamily="2" charset="-122"/>
              </a:rPr>
              <a:t>增删改查使用 </a:t>
            </a:r>
            <a:r>
              <a:rPr lang="en-US" altLang="zh-CN" sz="2000" b="0" dirty="0" smtClean="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MediaStore </a:t>
            </a:r>
            <a:r>
              <a:rPr lang="en-US" altLang="zh-CN" sz="2000" b="0" dirty="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API</a:t>
            </a:r>
            <a:endParaRPr lang="zh-CN" altLang="en-US" sz="2000" b="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287462" y="2438800"/>
            <a:ext cx="9018361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zh-CN" altLang="en-US" sz="1600" dirty="0" smtClean="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开启</a:t>
            </a:r>
            <a:r>
              <a:rPr lang="zh-CN" altLang="en-US" sz="1600" dirty="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分区存储后，新增媒体文件无需申请权限</a:t>
            </a:r>
            <a:r>
              <a:rPr lang="zh-CN" altLang="en-US" sz="1600" b="0" dirty="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；</a:t>
            </a:r>
            <a:endParaRPr lang="zh-CN" altLang="en-US" sz="1600" b="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1287462" y="2841572"/>
            <a:ext cx="8893257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zh-CN" altLang="en-US" sz="1600" dirty="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修改删除应用自身添加的文件，未卸载之前可以读取修改删除元信息以及内容，也无需权限</a:t>
            </a:r>
            <a:endParaRPr lang="zh-CN" altLang="en-US" dirty="0">
              <a:solidFill>
                <a:srgbClr val="FF0000"/>
              </a:solidFill>
            </a:endParaRPr>
          </a:p>
        </p:txBody>
      </p:sp>
      <p:sp>
        <p:nvSpPr>
          <p:cNvPr id="8" name="矩形 7"/>
          <p:cNvSpPr/>
          <p:nvPr/>
        </p:nvSpPr>
        <p:spPr>
          <a:xfrm>
            <a:off x="1287462" y="3227245"/>
            <a:ext cx="7247314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zh-CN" altLang="en-US" sz="1600" dirty="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其他应用添加媒体：需要申请READ_EXTERNAL_STORAGE才能读取</a:t>
            </a:r>
            <a:endParaRPr lang="zh-CN" altLang="en-US" sz="1600" dirty="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287461" y="3619088"/>
            <a:ext cx="9815967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zh-CN" altLang="en-US" sz="1600" b="0" dirty="0">
                <a:latin typeface="宋体" charset="0"/>
                <a:cs typeface="宋体" charset="0"/>
              </a:rPr>
              <a:t>即使申请WRITE_EXTERNAL_STORAGE也不能修改删除其他应用添加的</a:t>
            </a:r>
            <a:r>
              <a:rPr lang="zh-CN" altLang="en-US" sz="1600" b="0" dirty="0" smtClean="0">
                <a:latin typeface="宋体" charset="0"/>
                <a:cs typeface="宋体" charset="0"/>
              </a:rPr>
              <a:t>文件，</a:t>
            </a:r>
            <a:r>
              <a:rPr lang="zh-CN" altLang="en-US" sz="1600" b="0" dirty="0">
                <a:solidFill>
                  <a:srgbClr val="FF0000"/>
                </a:solidFill>
                <a:latin typeface="宋体" charset="0"/>
                <a:cs typeface="宋体" charset="0"/>
              </a:rPr>
              <a:t>需要弹框允许才能</a:t>
            </a:r>
            <a:r>
              <a:rPr lang="zh-CN" altLang="en-US" sz="1600" b="0" dirty="0" smtClean="0">
                <a:solidFill>
                  <a:srgbClr val="FF0000"/>
                </a:solidFill>
                <a:latin typeface="宋体" charset="0"/>
                <a:cs typeface="宋体" charset="0"/>
              </a:rPr>
              <a:t>修改</a:t>
            </a:r>
            <a:endParaRPr lang="zh-CN" altLang="en-US" sz="1600" b="0" dirty="0">
              <a:solidFill>
                <a:srgbClr val="FF0000"/>
              </a:solidFill>
              <a:latin typeface="宋体" charset="0"/>
              <a:cs typeface="宋体" charset="0"/>
            </a:endParaRPr>
          </a:p>
          <a:p>
            <a:pPr algn="l"/>
            <a:endParaRPr lang="zh-CN" altLang="en-US" sz="1600" b="0" dirty="0">
              <a:latin typeface="宋体" charset="0"/>
              <a:cs typeface="宋体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287462" y="3983263"/>
            <a:ext cx="9228138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zh-CN" altLang="en-US" sz="1200" b="0" dirty="0">
                <a:latin typeface="宋体" charset="0"/>
                <a:cs typeface="宋体" charset="0"/>
              </a:rPr>
              <a:t>&lt;uses-permission android:name="android.permission.WRITE_EXTERNAL_STORAGE"</a:t>
            </a:r>
            <a:endParaRPr lang="zh-CN" altLang="en-US" sz="1200" b="0" dirty="0">
              <a:latin typeface="宋体" charset="0"/>
              <a:cs typeface="宋体" charset="0"/>
            </a:endParaRPr>
          </a:p>
          <a:p>
            <a:pPr algn="l"/>
            <a:r>
              <a:rPr lang="zh-CN" altLang="en-US" sz="1200" b="0" dirty="0">
                <a:latin typeface="宋体" charset="0"/>
                <a:cs typeface="宋体" charset="0"/>
              </a:rPr>
              <a:t>                 </a:t>
            </a:r>
            <a:r>
              <a:rPr lang="zh-CN" altLang="en-US" sz="1200" dirty="0">
                <a:latin typeface="宋体" charset="0"/>
                <a:cs typeface="宋体" charset="0"/>
              </a:rPr>
              <a:t>android:maxSdkVersion</a:t>
            </a:r>
            <a:r>
              <a:rPr lang="zh-CN" altLang="en-US" sz="1200" b="0" dirty="0">
                <a:latin typeface="宋体" charset="0"/>
                <a:cs typeface="宋体" charset="0"/>
              </a:rPr>
              <a:t>="28" /&gt;</a:t>
            </a:r>
            <a:endParaRPr lang="zh-CN" altLang="en-US" sz="1800" b="0" dirty="0">
              <a:latin typeface="宋体" charset="0"/>
              <a:cs typeface="宋体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741714" y="4607242"/>
            <a:ext cx="3844130" cy="398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zh-CN" altLang="en-US" sz="2000" b="0" dirty="0">
                <a:latin typeface="宋体" panose="02010600030101010101" pitchFamily="2" charset="-122"/>
                <a:ea typeface="宋体" panose="02010600030101010101" pitchFamily="2" charset="-122"/>
              </a:rPr>
              <a:t>弹框用户允许后可以</a:t>
            </a:r>
            <a:r>
              <a:rPr lang="zh-CN" altLang="en-US" sz="2000" b="0" dirty="0" smtClean="0">
                <a:latin typeface="宋体" panose="02010600030101010101" pitchFamily="2" charset="-122"/>
                <a:ea typeface="宋体" panose="02010600030101010101" pitchFamily="2" charset="-122"/>
              </a:rPr>
              <a:t>访问</a:t>
            </a:r>
            <a:endParaRPr lang="zh-CN" altLang="en-US" sz="2000" b="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" name="标题 2"/>
          <p:cNvSpPr>
            <a:spLocks noGrp="1"/>
          </p:cNvSpPr>
          <p:nvPr>
            <p:ph type="title" idx="4294967295"/>
          </p:nvPr>
        </p:nvSpPr>
        <p:spPr>
          <a:xfrm>
            <a:off x="0" y="344805"/>
            <a:ext cx="5443855" cy="264795"/>
          </a:xfrm>
        </p:spPr>
        <p:txBody>
          <a:bodyPr/>
          <a:lstStyle/>
          <a:p>
            <a:pPr defTabSz="531495" hangingPunct="1">
              <a:lnSpc>
                <a:spcPct val="120000"/>
              </a:lnSpc>
            </a:pPr>
            <a:r>
              <a:rPr kumimoji="1" lang="zh-CN" altLang="en-US" dirty="0">
                <a:latin typeface="SimHei" charset="-122"/>
                <a:ea typeface="SimHei" charset="-122"/>
                <a:cs typeface="SimHei" charset="-122"/>
              </a:rPr>
              <a:t>分区存储介绍</a:t>
            </a:r>
            <a:endParaRPr kumimoji="1" lang="zh-CN" altLang="en-US" dirty="0">
              <a:latin typeface="SimHei" charset="-122"/>
              <a:ea typeface="SimHei" charset="-122"/>
              <a:cs typeface="SimHei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10" grpId="0"/>
      <p:bldP spid="11" grpId="0"/>
      <p:bldP spid="1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246"/>
          <p:cNvSpPr txBox="1"/>
          <p:nvPr/>
        </p:nvSpPr>
        <p:spPr>
          <a:xfrm>
            <a:off x="317499" y="709260"/>
            <a:ext cx="6661523" cy="457424"/>
          </a:xfrm>
          <a:prstGeom prst="rect">
            <a:avLst/>
          </a:prstGeom>
        </p:spPr>
        <p:txBody>
          <a:bodyPr lIns="36000" tIns="36000" rIns="36000" bIns="3600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9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2400" dirty="0"/>
              <a:t>文档以及其他</a:t>
            </a:r>
            <a:r>
              <a:rPr lang="zh-CN" altLang="en-US" sz="2400" dirty="0" smtClean="0"/>
              <a:t>文件</a:t>
            </a:r>
            <a:endParaRPr lang="en-US" altLang="zh-CN" sz="2400" dirty="0"/>
          </a:p>
        </p:txBody>
      </p:sp>
      <p:sp>
        <p:nvSpPr>
          <p:cNvPr id="2" name="幻灯片编号占位符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2E6D20B-5538-E34D-91FE-E40835CF0C83}" type="slidenum">
              <a:rPr kumimoji="1" lang="zh-CN" altLang="en-US" smtClean="0">
                <a:latin typeface="SimHei" charset="-122"/>
                <a:ea typeface="SimHei" charset="-122"/>
                <a:cs typeface="SimHei" charset="-122"/>
              </a:rPr>
            </a:fld>
            <a:endParaRPr kumimoji="1" lang="zh-CN" altLang="en-US" dirty="0"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223610" y="1334373"/>
            <a:ext cx="2127704" cy="39382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</a:rPr>
              <a:t>内容</a:t>
            </a:r>
            <a:r>
              <a:rPr lang="zh-CN" altLang="en-US" sz="2000" b="0" dirty="0" smtClean="0">
                <a:latin typeface="宋体" panose="02010600030101010101" pitchFamily="2" charset="-122"/>
                <a:ea typeface="宋体" panose="02010600030101010101" pitchFamily="2" charset="-122"/>
              </a:rPr>
              <a:t>：</a:t>
            </a:r>
            <a:endParaRPr lang="zh-CN" altLang="en-US" sz="2000" b="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/>
            <a:br>
              <a:rPr lang="zh-CN" altLang="en-US" sz="1600" b="0" dirty="0">
                <a:latin typeface="宋体" panose="02010600030101010101" pitchFamily="2" charset="-122"/>
                <a:ea typeface="宋体" panose="02010600030101010101" pitchFamily="2" charset="-122"/>
              </a:rPr>
            </a:br>
            <a:r>
              <a:rPr lang="zh-CN" altLang="en-US" sz="1800" dirty="0" smtClean="0">
                <a:latin typeface="宋体" panose="02010600030101010101" pitchFamily="2" charset="-122"/>
                <a:ea typeface="宋体" panose="02010600030101010101" pitchFamily="2" charset="-122"/>
              </a:rPr>
              <a:t>访问</a:t>
            </a:r>
            <a:r>
              <a:rPr lang="zh-CN" altLang="en-US" sz="1800" dirty="0">
                <a:latin typeface="宋体" panose="02010600030101010101" pitchFamily="2" charset="-122"/>
                <a:ea typeface="宋体" panose="02010600030101010101" pitchFamily="2" charset="-122"/>
              </a:rPr>
              <a:t>方式</a:t>
            </a:r>
            <a:r>
              <a:rPr lang="zh-CN" altLang="en-US" sz="1800" b="0" dirty="0" smtClean="0">
                <a:latin typeface="宋体" panose="02010600030101010101" pitchFamily="2" charset="-122"/>
                <a:ea typeface="宋体" panose="02010600030101010101" pitchFamily="2" charset="-122"/>
              </a:rPr>
              <a:t>：</a:t>
            </a:r>
            <a:endParaRPr lang="en-US" altLang="zh-CN" sz="1800" b="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/>
            <a:endParaRPr lang="en-US" altLang="zh-CN" sz="1800" b="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/>
            <a:r>
              <a:rPr lang="zh-CN" altLang="en-US" sz="1800" dirty="0" smtClean="0">
                <a:latin typeface="宋体" panose="02010600030101010101" pitchFamily="2" charset="-122"/>
                <a:ea typeface="宋体" panose="02010600030101010101" pitchFamily="2" charset="-122"/>
              </a:rPr>
              <a:t>权限</a:t>
            </a:r>
            <a:r>
              <a:rPr lang="en-US" altLang="zh-CN" sz="1600" b="0" dirty="0" smtClean="0">
                <a:latin typeface="宋体" panose="02010600030101010101" pitchFamily="2" charset="-122"/>
                <a:ea typeface="宋体" panose="02010600030101010101" pitchFamily="2" charset="-122"/>
              </a:rPr>
              <a:t>:</a:t>
            </a:r>
            <a:endParaRPr lang="en-US" altLang="zh-CN" sz="1600" b="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/>
            <a:endParaRPr lang="en-US" altLang="zh-CN" sz="1600" b="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/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/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/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其他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应用访问</a:t>
            </a:r>
            <a:r>
              <a:rPr lang="zh-CN" altLang="en-US" sz="1600" b="0" dirty="0" smtClean="0">
                <a:latin typeface="宋体" panose="02010600030101010101" pitchFamily="2" charset="-122"/>
                <a:ea typeface="宋体" panose="02010600030101010101" pitchFamily="2" charset="-122"/>
              </a:rPr>
              <a:t>：</a:t>
            </a:r>
            <a:r>
              <a:rPr lang="zh-CN" altLang="en-US" sz="1600" b="0" dirty="0">
                <a:latin typeface="宋体" panose="02010600030101010101" pitchFamily="2" charset="-122"/>
                <a:ea typeface="宋体" panose="02010600030101010101" pitchFamily="2" charset="-122"/>
              </a:rPr>
              <a:t>		</a:t>
            </a:r>
            <a:endParaRPr lang="en-US" altLang="zh-CN" sz="1600" b="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/>
            <a:endParaRPr lang="zh-CN" altLang="en-US" sz="1600" b="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/>
            <a:r>
              <a:rPr lang="zh-CN" altLang="en-US" sz="1600" b="0" dirty="0" smtClean="0">
                <a:latin typeface="宋体" panose="02010600030101010101" pitchFamily="2" charset="-122"/>
                <a:ea typeface="宋体" panose="02010600030101010101" pitchFamily="2" charset="-122"/>
              </a:rPr>
              <a:t>             </a:t>
            </a:r>
            <a:endParaRPr lang="en-US" altLang="zh-CN" sz="1600" b="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/>
            <a:r>
              <a:rPr lang="en-US" altLang="zh-CN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APK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卸载是否保留</a:t>
            </a:r>
            <a:r>
              <a:rPr lang="en-US" altLang="zh-CN" sz="1600" b="0" dirty="0" smtClean="0">
                <a:latin typeface="宋体" panose="02010600030101010101" pitchFamily="2" charset="-122"/>
                <a:ea typeface="宋体" panose="02010600030101010101" pitchFamily="2" charset="-122"/>
              </a:rPr>
              <a:t>: </a:t>
            </a:r>
            <a:r>
              <a:rPr lang="zh-CN" altLang="en-US" sz="1600" b="0" dirty="0" smtClean="0">
                <a:latin typeface="宋体" panose="02010600030101010101" pitchFamily="2" charset="-122"/>
                <a:ea typeface="宋体" panose="02010600030101010101" pitchFamily="2" charset="-122"/>
              </a:rPr>
              <a:t>是</a:t>
            </a:r>
            <a:endParaRPr lang="zh-CN" altLang="en-US" sz="1600" b="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/>
            <a:endParaRPr lang="zh-CN" altLang="en-US" sz="1600" b="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1287462" y="1362460"/>
            <a:ext cx="2722880" cy="39878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r>
              <a:rPr lang="zh-CN" altLang="en-US" sz="2000" b="0" dirty="0">
                <a:latin typeface="宋体" panose="02010600030101010101" pitchFamily="2" charset="-122"/>
                <a:ea typeface="宋体" panose="02010600030101010101" pitchFamily="2" charset="-122"/>
              </a:rPr>
              <a:t>其他类型的可共享内容</a:t>
            </a:r>
            <a:endParaRPr lang="zh-CN" altLang="en-US" sz="2000" b="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287462" y="1858773"/>
            <a:ext cx="5759450" cy="7067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zh-CN" altLang="en-US" sz="2000" b="0" dirty="0">
                <a:latin typeface="宋体" charset="0"/>
                <a:cs typeface="宋体" charset="0"/>
              </a:rPr>
              <a:t>推荐使用</a:t>
            </a:r>
            <a:r>
              <a:rPr lang="zh-CN" altLang="en-US" sz="2000" dirty="0">
                <a:latin typeface="宋体" charset="0"/>
                <a:cs typeface="宋体" charset="0"/>
                <a:sym typeface="+mn-ea"/>
              </a:rPr>
              <a:t>存储访问框架</a:t>
            </a:r>
            <a:r>
              <a:rPr lang="en-US" altLang="zh-CN" sz="2000" dirty="0">
                <a:latin typeface="宋体" charset="0"/>
                <a:cs typeface="宋体" charset="0"/>
                <a:sym typeface="+mn-ea"/>
              </a:rPr>
              <a:t>(</a:t>
            </a:r>
            <a:r>
              <a:rPr lang="en-US" altLang="zh-CN" sz="2000" dirty="0" smtClean="0">
                <a:latin typeface="宋体" charset="0"/>
                <a:cs typeface="宋体" charset="0"/>
                <a:sym typeface="+mn-ea"/>
              </a:rPr>
              <a:t>SAF: Storage Access Framework)</a:t>
            </a:r>
            <a:endParaRPr lang="en-US" altLang="zh-CN" sz="2000" b="0" dirty="0">
              <a:latin typeface="宋体" charset="0"/>
              <a:cs typeface="宋体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287462" y="2438800"/>
            <a:ext cx="9018361" cy="7067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zh-CN" altLang="en-US" sz="2000" b="0" dirty="0">
                <a:latin typeface="宋体" charset="0"/>
                <a:cs typeface="宋体" charset="0"/>
              </a:rPr>
              <a:t>由于用户参与选择您的应用可以访问的文件或目录，因此该机制无需任何系统权限</a:t>
            </a:r>
            <a:endParaRPr lang="zh-CN" altLang="en-US" sz="2000" b="0" dirty="0">
              <a:latin typeface="宋体" charset="0"/>
              <a:cs typeface="宋体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772704" y="3610134"/>
            <a:ext cx="3844130" cy="398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zh-CN" altLang="en-US" sz="2000" b="0" dirty="0" smtClean="0">
                <a:latin typeface="宋体" panose="02010600030101010101" pitchFamily="2" charset="-122"/>
                <a:ea typeface="宋体" panose="02010600030101010101" pitchFamily="2" charset="-122"/>
              </a:rPr>
              <a:t>同样使用</a:t>
            </a:r>
            <a:r>
              <a:rPr lang="en-US" altLang="zh-CN" sz="2000" b="0" dirty="0" smtClean="0">
                <a:latin typeface="宋体" panose="02010600030101010101" pitchFamily="2" charset="-122"/>
                <a:ea typeface="宋体" panose="02010600030101010101" pitchFamily="2" charset="-122"/>
              </a:rPr>
              <a:t>SAF</a:t>
            </a:r>
            <a:endParaRPr lang="zh-CN" altLang="en-US" sz="2000" b="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pic>
        <p:nvPicPr>
          <p:cNvPr id="13" name="图片 12" descr="device-2020-08-23-113557"/>
          <p:cNvPicPr>
            <a:picLocks noChangeAspect="1"/>
          </p:cNvPicPr>
          <p:nvPr/>
        </p:nvPicPr>
        <p:blipFill>
          <a:blip r:embed="rId1" cstate="print"/>
          <a:stretch>
            <a:fillRect/>
          </a:stretch>
        </p:blipFill>
        <p:spPr>
          <a:xfrm>
            <a:off x="8312830" y="1139568"/>
            <a:ext cx="2720170" cy="4837142"/>
          </a:xfrm>
          <a:prstGeom prst="rect">
            <a:avLst/>
          </a:prstGeom>
        </p:spPr>
      </p:pic>
      <p:sp>
        <p:nvSpPr>
          <p:cNvPr id="10" name="标题 2"/>
          <p:cNvSpPr>
            <a:spLocks noGrp="1"/>
          </p:cNvSpPr>
          <p:nvPr>
            <p:ph type="title" idx="4294967295"/>
          </p:nvPr>
        </p:nvSpPr>
        <p:spPr>
          <a:xfrm>
            <a:off x="0" y="344805"/>
            <a:ext cx="5443855" cy="264795"/>
          </a:xfrm>
        </p:spPr>
        <p:txBody>
          <a:bodyPr/>
          <a:lstStyle/>
          <a:p>
            <a:pPr defTabSz="531495" hangingPunct="1">
              <a:lnSpc>
                <a:spcPct val="120000"/>
              </a:lnSpc>
            </a:pPr>
            <a:r>
              <a:rPr kumimoji="1" lang="zh-CN" altLang="en-US" dirty="0">
                <a:latin typeface="SimHei" charset="-122"/>
                <a:ea typeface="SimHei" charset="-122"/>
                <a:cs typeface="SimHei" charset="-122"/>
              </a:rPr>
              <a:t>分区存储介绍</a:t>
            </a:r>
            <a:endParaRPr kumimoji="1" lang="zh-CN" altLang="en-US" dirty="0">
              <a:latin typeface="SimHei" charset="-122"/>
              <a:ea typeface="SimHei" charset="-122"/>
              <a:cs typeface="SimHei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246"/>
          <p:cNvSpPr txBox="1"/>
          <p:nvPr/>
        </p:nvSpPr>
        <p:spPr>
          <a:xfrm>
            <a:off x="317499" y="709260"/>
            <a:ext cx="6661523" cy="457424"/>
          </a:xfrm>
          <a:prstGeom prst="rect">
            <a:avLst/>
          </a:prstGeom>
        </p:spPr>
        <p:txBody>
          <a:bodyPr lIns="36000" tIns="36000" rIns="36000" bIns="3600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9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2400" dirty="0" smtClean="0"/>
              <a:t>MediaStore </a:t>
            </a:r>
            <a:r>
              <a:rPr lang="zh-CN" altLang="en-US" sz="2400" dirty="0" smtClean="0"/>
              <a:t>增删</a:t>
            </a:r>
            <a:r>
              <a:rPr lang="zh-CN" altLang="en-US" sz="2400" dirty="0"/>
              <a:t>改查</a:t>
            </a:r>
            <a:r>
              <a:rPr lang="en-US" altLang="zh-CN" sz="2400" dirty="0"/>
              <a:t>API:</a:t>
            </a:r>
            <a:endParaRPr lang="en-US" altLang="zh-CN" sz="2400" dirty="0"/>
          </a:p>
        </p:txBody>
      </p:sp>
      <p:sp>
        <p:nvSpPr>
          <p:cNvPr id="2" name="幻灯片编号占位符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2E6D20B-5538-E34D-91FE-E40835CF0C83}" type="slidenum">
              <a:rPr kumimoji="1" lang="zh-CN" altLang="en-US" smtClean="0">
                <a:latin typeface="SimHei" charset="-122"/>
                <a:ea typeface="SimHei" charset="-122"/>
                <a:cs typeface="SimHei" charset="-122"/>
              </a:rPr>
            </a:fld>
            <a:endParaRPr kumimoji="1" lang="zh-CN" altLang="en-US" dirty="0"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12725" y="1149283"/>
            <a:ext cx="11184618" cy="31997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zh-CN" altLang="en-US" sz="2000" b="0" dirty="0" smtClean="0">
                <a:latin typeface="宋体" panose="02010600030101010101" pitchFamily="2" charset="-122"/>
                <a:ea typeface="宋体" panose="02010600030101010101" pitchFamily="2" charset="-122"/>
              </a:rPr>
              <a:t>通过 </a:t>
            </a:r>
            <a:r>
              <a:rPr lang="en-US" altLang="zh-CN" sz="2000" b="0" dirty="0" smtClean="0">
                <a:latin typeface="宋体" panose="02010600030101010101" pitchFamily="2" charset="-122"/>
                <a:ea typeface="宋体" panose="02010600030101010101" pitchFamily="2" charset="-122"/>
              </a:rPr>
              <a:t>Media </a:t>
            </a:r>
            <a:r>
              <a:rPr lang="en-US" altLang="zh-CN" sz="2000" b="0" dirty="0" err="1">
                <a:latin typeface="宋体" panose="02010600030101010101" pitchFamily="2" charset="-122"/>
                <a:ea typeface="宋体" panose="02010600030101010101" pitchFamily="2" charset="-122"/>
              </a:rPr>
              <a:t>ContentProvider</a:t>
            </a:r>
            <a:r>
              <a:rPr lang="zh-CN" altLang="en-US" sz="2000" b="0" dirty="0">
                <a:latin typeface="宋体" panose="02010600030101010101" pitchFamily="2" charset="-122"/>
                <a:ea typeface="宋体" panose="02010600030101010101" pitchFamily="2" charset="-122"/>
              </a:rPr>
              <a:t>操作，</a:t>
            </a:r>
            <a:r>
              <a:rPr lang="zh-CN" altLang="en-US" sz="2000" b="0" dirty="0" smtClean="0">
                <a:latin typeface="宋体" panose="02010600030101010101" pitchFamily="2" charset="-122"/>
                <a:ea typeface="宋体" panose="02010600030101010101" pitchFamily="2" charset="-122"/>
              </a:rPr>
              <a:t>涉及</a:t>
            </a:r>
            <a:r>
              <a:rPr lang="en-US" altLang="zh-CN" sz="2000" b="0" dirty="0" smtClean="0">
                <a:latin typeface="宋体" panose="02010600030101010101" pitchFamily="2" charset="-122"/>
                <a:ea typeface="宋体" panose="02010600030101010101" pitchFamily="2" charset="-122"/>
              </a:rPr>
              <a:t>Uri</a:t>
            </a:r>
            <a:r>
              <a:rPr lang="zh-CN" altLang="en-US" sz="2000" b="0" dirty="0" smtClean="0">
                <a:latin typeface="宋体" panose="02010600030101010101" pitchFamily="2" charset="-122"/>
                <a:ea typeface="宋体" panose="02010600030101010101" pitchFamily="2" charset="-122"/>
              </a:rPr>
              <a:t>：</a:t>
            </a:r>
            <a:endParaRPr lang="en-US" altLang="zh-CN" sz="2000" b="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l"/>
            <a:endParaRPr lang="en-US" altLang="zh-CN" sz="1600" b="0" dirty="0" smtClean="0">
              <a:latin typeface="宋体" charset="0"/>
              <a:cs typeface="宋体" charset="0"/>
            </a:endParaRPr>
          </a:p>
          <a:p>
            <a:pPr algn="l"/>
            <a:r>
              <a:rPr lang="en-US" altLang="zh-CN" sz="1600" b="0" dirty="0" err="1">
                <a:latin typeface="宋体" charset="0"/>
                <a:cs typeface="宋体" charset="0"/>
              </a:rPr>
              <a:t>MediaStore</a:t>
            </a:r>
            <a:r>
              <a:rPr lang="en-US" altLang="zh-CN" sz="1600" b="0" dirty="0">
                <a:latin typeface="宋体" charset="0"/>
                <a:cs typeface="宋体" charset="0"/>
              </a:rPr>
              <a:t>.$</a:t>
            </a:r>
            <a:r>
              <a:rPr lang="en-US" altLang="zh-CN" sz="1600" u="sng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宋体" charset="0"/>
                <a:cs typeface="宋体" charset="0"/>
              </a:rPr>
              <a:t>media-</a:t>
            </a:r>
            <a:r>
              <a:rPr lang="en-US" altLang="zh-CN" sz="1600" u="sng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宋体" charset="0"/>
                <a:cs typeface="宋体" charset="0"/>
              </a:rPr>
              <a:t>type</a:t>
            </a:r>
            <a:r>
              <a:rPr lang="en-US" altLang="zh-CN" sz="1600" b="0" dirty="0" err="1" smtClean="0">
                <a:latin typeface="宋体" charset="0"/>
                <a:cs typeface="宋体" charset="0"/>
              </a:rPr>
              <a:t>.Media.getContentUri</a:t>
            </a:r>
            <a:r>
              <a:rPr lang="en-US" altLang="zh-CN" sz="1600" b="0" dirty="0" smtClean="0">
                <a:latin typeface="宋体" charset="0"/>
                <a:cs typeface="宋体" charset="0"/>
              </a:rPr>
              <a:t>(String </a:t>
            </a:r>
            <a:r>
              <a:rPr lang="en-US" altLang="zh-CN" sz="1600" b="0" dirty="0" err="1" smtClean="0">
                <a:latin typeface="宋体" charset="0"/>
                <a:cs typeface="宋体" charset="0"/>
              </a:rPr>
              <a:t>volumeName</a:t>
            </a:r>
            <a:r>
              <a:rPr lang="en-US" altLang="zh-CN" sz="1600" b="0" dirty="0" smtClean="0">
                <a:latin typeface="宋体" charset="0"/>
                <a:cs typeface="宋体" charset="0"/>
              </a:rPr>
              <a:t>)</a:t>
            </a:r>
            <a:r>
              <a:rPr lang="zh-CN" altLang="en-US" sz="1600" b="0" dirty="0">
                <a:latin typeface="宋体" charset="0"/>
                <a:cs typeface="宋体" charset="0"/>
              </a:rPr>
              <a:t> </a:t>
            </a:r>
            <a:r>
              <a:rPr lang="en-US" altLang="zh-CN" sz="1600" b="0" dirty="0" smtClean="0">
                <a:latin typeface="宋体" charset="0"/>
                <a:cs typeface="宋体" charset="0"/>
              </a:rPr>
              <a:t>//$</a:t>
            </a:r>
            <a:r>
              <a:rPr lang="en-US" altLang="zh-CN" sz="1600" b="0" dirty="0">
                <a:latin typeface="宋体" charset="0"/>
                <a:cs typeface="宋体" charset="0"/>
              </a:rPr>
              <a:t>media-type</a:t>
            </a:r>
            <a:r>
              <a:rPr lang="zh-CN" altLang="en-US" sz="1600" b="0" dirty="0">
                <a:latin typeface="宋体" charset="0"/>
                <a:cs typeface="宋体" charset="0"/>
              </a:rPr>
              <a:t>分别对应</a:t>
            </a:r>
            <a:r>
              <a:rPr lang="en-US" altLang="zh-CN" sz="1600" b="0" dirty="0">
                <a:latin typeface="宋体" charset="0"/>
                <a:cs typeface="宋体" charset="0"/>
              </a:rPr>
              <a:t>Images  Video </a:t>
            </a:r>
            <a:r>
              <a:rPr lang="en-US" altLang="zh-CN" sz="1600" b="0" dirty="0">
                <a:latin typeface="宋体" charset="0"/>
                <a:cs typeface="宋体" charset="0"/>
                <a:sym typeface="+mn-ea"/>
              </a:rPr>
              <a:t>Audio</a:t>
            </a:r>
            <a:endParaRPr lang="en-US" altLang="zh-CN" sz="1600" b="0" dirty="0">
              <a:latin typeface="宋体" charset="0"/>
              <a:cs typeface="宋体" charset="0"/>
            </a:endParaRPr>
          </a:p>
          <a:p>
            <a:pPr algn="l"/>
            <a:endParaRPr lang="en-US" altLang="zh-CN" sz="1600" b="0" dirty="0">
              <a:latin typeface="宋体" charset="0"/>
              <a:cs typeface="宋体" charset="0"/>
            </a:endParaRPr>
          </a:p>
          <a:p>
            <a:pPr algn="l"/>
            <a:r>
              <a:rPr lang="en-US" altLang="zh-CN" sz="1600" b="0" dirty="0" err="1">
                <a:latin typeface="宋体" charset="0"/>
                <a:cs typeface="宋体" charset="0"/>
              </a:rPr>
              <a:t>MediaStore.</a:t>
            </a:r>
            <a:r>
              <a:rPr lang="en-US" altLang="zh-CN" sz="1600" dirty="0" err="1">
                <a:latin typeface="宋体" charset="0"/>
                <a:cs typeface="宋体" charset="0"/>
              </a:rPr>
              <a:t>Downloads</a:t>
            </a:r>
            <a:r>
              <a:rPr lang="en-US" altLang="zh-CN" sz="1600" b="0" dirty="0" err="1">
                <a:latin typeface="宋体" charset="0"/>
                <a:cs typeface="宋体" charset="0"/>
              </a:rPr>
              <a:t>.getContentUri</a:t>
            </a:r>
            <a:r>
              <a:rPr lang="en-US" altLang="zh-CN" sz="1600" b="0" dirty="0">
                <a:latin typeface="宋体" charset="0"/>
                <a:cs typeface="宋体" charset="0"/>
              </a:rPr>
              <a:t>(String </a:t>
            </a:r>
            <a:r>
              <a:rPr lang="en-US" altLang="zh-CN" sz="1600" b="0" dirty="0" err="1">
                <a:latin typeface="宋体" charset="0"/>
                <a:cs typeface="宋体" charset="0"/>
              </a:rPr>
              <a:t>volumeName</a:t>
            </a:r>
            <a:r>
              <a:rPr lang="en-US" altLang="zh-CN" sz="1600" b="0" dirty="0" smtClean="0">
                <a:latin typeface="宋体" charset="0"/>
                <a:cs typeface="宋体" charset="0"/>
              </a:rPr>
              <a:t>)</a:t>
            </a:r>
            <a:endParaRPr lang="en-US" altLang="zh-CN" sz="1600" b="0" dirty="0" smtClean="0">
              <a:latin typeface="宋体" charset="0"/>
              <a:cs typeface="宋体" charset="0"/>
            </a:endParaRPr>
          </a:p>
          <a:p>
            <a:pPr algn="l"/>
            <a:endParaRPr lang="en-US" altLang="zh-CN" sz="1600" b="0" dirty="0" smtClean="0">
              <a:latin typeface="宋体" charset="0"/>
              <a:cs typeface="宋体" charset="0"/>
            </a:endParaRPr>
          </a:p>
          <a:p>
            <a:pPr algn="l"/>
            <a:r>
              <a:rPr lang="en-US" altLang="zh-CN" sz="1600" b="0" dirty="0" smtClean="0">
                <a:latin typeface="宋体" charset="0"/>
                <a:cs typeface="宋体" charset="0"/>
              </a:rPr>
              <a:t>Android Q </a:t>
            </a:r>
            <a:r>
              <a:rPr lang="zh-CN" altLang="en-US" sz="1600" b="0" dirty="0" smtClean="0">
                <a:latin typeface="宋体" charset="0"/>
                <a:cs typeface="宋体" charset="0"/>
              </a:rPr>
              <a:t>增加了获取外部存储卷名称的接口</a:t>
            </a:r>
            <a:r>
              <a:rPr lang="en-US" altLang="zh-CN" sz="1600" b="0" dirty="0" smtClean="0">
                <a:latin typeface="宋体" charset="0"/>
                <a:cs typeface="宋体" charset="0"/>
              </a:rPr>
              <a:t>:</a:t>
            </a:r>
            <a:endParaRPr lang="en-US" altLang="zh-CN" sz="1600" b="0" dirty="0" smtClean="0">
              <a:latin typeface="宋体" charset="0"/>
              <a:cs typeface="宋体" charset="0"/>
            </a:endParaRPr>
          </a:p>
          <a:p>
            <a:pPr algn="l"/>
            <a:br>
              <a:rPr lang="en-US" altLang="zh-CN" sz="1600" b="0" dirty="0" smtClean="0">
                <a:latin typeface="宋体" charset="0"/>
                <a:cs typeface="宋体" charset="0"/>
              </a:rPr>
            </a:br>
            <a:r>
              <a:rPr lang="en-US" altLang="zh-CN" sz="1400" b="0" dirty="0" smtClean="0">
                <a:latin typeface="宋体" charset="0"/>
                <a:cs typeface="宋体" charset="0"/>
              </a:rPr>
              <a:t>Set&lt;String</a:t>
            </a:r>
            <a:r>
              <a:rPr lang="en-US" altLang="zh-CN" sz="1400" b="0" dirty="0">
                <a:latin typeface="宋体" charset="0"/>
                <a:cs typeface="宋体" charset="0"/>
              </a:rPr>
              <a:t>&gt; </a:t>
            </a:r>
            <a:r>
              <a:rPr lang="en-US" altLang="zh-CN" sz="1400" b="0" dirty="0" err="1">
                <a:latin typeface="宋体" charset="0"/>
                <a:cs typeface="宋体" charset="0"/>
              </a:rPr>
              <a:t>volumeNames</a:t>
            </a:r>
            <a:r>
              <a:rPr lang="en-US" altLang="zh-CN" sz="1400" b="0" dirty="0">
                <a:latin typeface="宋体" charset="0"/>
                <a:cs typeface="宋体" charset="0"/>
              </a:rPr>
              <a:t> = </a:t>
            </a:r>
            <a:r>
              <a:rPr lang="en-US" altLang="zh-CN" sz="1400" b="0" dirty="0" err="1">
                <a:latin typeface="宋体" charset="0"/>
                <a:cs typeface="宋体" charset="0"/>
              </a:rPr>
              <a:t>MediaStore.getExternalVolumeNames</a:t>
            </a:r>
            <a:r>
              <a:rPr lang="en-US" altLang="zh-CN" sz="1400" b="0" dirty="0">
                <a:latin typeface="宋体" charset="0"/>
                <a:cs typeface="宋体" charset="0"/>
              </a:rPr>
              <a:t>(context</a:t>
            </a:r>
            <a:r>
              <a:rPr lang="en-US" altLang="zh-CN" sz="1400" b="0" dirty="0" smtClean="0">
                <a:latin typeface="宋体" charset="0"/>
                <a:cs typeface="宋体" charset="0"/>
              </a:rPr>
              <a:t>);//</a:t>
            </a:r>
            <a:r>
              <a:rPr lang="zh-CN" altLang="en-US" sz="1400" b="0" dirty="0" smtClean="0">
                <a:latin typeface="宋体" charset="0"/>
                <a:cs typeface="宋体" charset="0"/>
              </a:rPr>
              <a:t>外部存储卷名称列表，如主外部存储，</a:t>
            </a:r>
            <a:r>
              <a:rPr lang="en-US" altLang="zh-CN" sz="1400" b="0" dirty="0" smtClean="0">
                <a:latin typeface="宋体" charset="0"/>
                <a:cs typeface="宋体" charset="0"/>
              </a:rPr>
              <a:t>SD</a:t>
            </a:r>
            <a:r>
              <a:rPr lang="zh-CN" altLang="en-US" sz="1400" b="0" dirty="0" smtClean="0">
                <a:latin typeface="宋体" charset="0"/>
                <a:cs typeface="宋体" charset="0"/>
              </a:rPr>
              <a:t>卡，</a:t>
            </a:r>
            <a:r>
              <a:rPr lang="en-US" altLang="zh-CN" sz="1400" b="0" dirty="0" smtClean="0">
                <a:latin typeface="宋体" charset="0"/>
                <a:cs typeface="宋体" charset="0"/>
              </a:rPr>
              <a:t>USB OTG</a:t>
            </a:r>
            <a:endParaRPr lang="en-US" altLang="zh-CN" sz="1400" b="0" dirty="0" smtClean="0">
              <a:latin typeface="宋体" charset="0"/>
              <a:cs typeface="宋体" charset="0"/>
            </a:endParaRPr>
          </a:p>
          <a:p>
            <a:pPr algn="l"/>
            <a:endParaRPr lang="en-US" altLang="zh-CN" sz="1400" b="0" dirty="0">
              <a:latin typeface="宋体" charset="0"/>
              <a:cs typeface="宋体" charset="0"/>
            </a:endParaRPr>
          </a:p>
          <a:p>
            <a:pPr algn="l"/>
            <a:r>
              <a:rPr lang="zh-CN" altLang="en-US" sz="1400" b="0" dirty="0" smtClean="0">
                <a:latin typeface="宋体" charset="0"/>
                <a:cs typeface="宋体" charset="0"/>
              </a:rPr>
              <a:t>其中 </a:t>
            </a:r>
            <a:r>
              <a:rPr lang="en-US" altLang="zh-CN" sz="1400" b="0" dirty="0" err="1" smtClean="0">
                <a:latin typeface="宋体" charset="0"/>
                <a:cs typeface="宋体" charset="0"/>
              </a:rPr>
              <a:t>MediaStore.VOLUME_EXTERNAL_PRIMARY</a:t>
            </a:r>
            <a:r>
              <a:rPr lang="en-US" altLang="zh-CN" sz="1400" b="0" dirty="0" smtClean="0">
                <a:latin typeface="宋体" charset="0"/>
                <a:cs typeface="宋体" charset="0"/>
              </a:rPr>
              <a:t> </a:t>
            </a:r>
            <a:r>
              <a:rPr lang="zh-CN" altLang="en-US" sz="1400" b="0" dirty="0" smtClean="0">
                <a:latin typeface="宋体" charset="0"/>
                <a:cs typeface="宋体" charset="0"/>
              </a:rPr>
              <a:t>为外部主存储卷</a:t>
            </a:r>
            <a:endParaRPr lang="en-US" altLang="zh-CN" sz="1400" b="0" dirty="0" smtClean="0">
              <a:latin typeface="宋体" charset="0"/>
              <a:cs typeface="宋体" charset="0"/>
            </a:endParaRPr>
          </a:p>
          <a:p>
            <a:pPr algn="l"/>
            <a:endParaRPr lang="en-US" altLang="zh-CN" sz="1400" b="0" dirty="0">
              <a:latin typeface="宋体" charset="0"/>
              <a:cs typeface="宋体" charset="0"/>
            </a:endParaRPr>
          </a:p>
          <a:p>
            <a:pPr algn="l"/>
            <a:r>
              <a:rPr lang="zh-CN" altLang="en-US" sz="1400" dirty="0" smtClean="0">
                <a:latin typeface="宋体" charset="0"/>
                <a:cs typeface="宋体" charset="0"/>
              </a:rPr>
              <a:t>查询使用</a:t>
            </a:r>
            <a:r>
              <a:rPr lang="zh-CN" altLang="en-US" sz="1400" b="0" dirty="0" smtClean="0">
                <a:latin typeface="宋体" charset="0"/>
                <a:cs typeface="宋体" charset="0"/>
              </a:rPr>
              <a:t>将外部存储内容合并的</a:t>
            </a:r>
            <a:r>
              <a:rPr lang="en-US" altLang="zh-CN" sz="1400" b="0" dirty="0" smtClean="0">
                <a:latin typeface="宋体" charset="0"/>
                <a:cs typeface="宋体" charset="0"/>
              </a:rPr>
              <a:t>Uri</a:t>
            </a:r>
            <a:r>
              <a:rPr lang="zh-CN" altLang="en-US" sz="1400" b="0" dirty="0" smtClean="0">
                <a:latin typeface="宋体" charset="0"/>
                <a:cs typeface="宋体" charset="0"/>
              </a:rPr>
              <a:t>：</a:t>
            </a:r>
            <a:r>
              <a:rPr lang="en-US" altLang="zh-CN" sz="1400" b="0" dirty="0" err="1">
                <a:latin typeface="宋体" charset="0"/>
                <a:cs typeface="宋体" charset="0"/>
              </a:rPr>
              <a:t>MediaStore</a:t>
            </a:r>
            <a:r>
              <a:rPr lang="en-US" altLang="zh-CN" sz="1400" b="0" dirty="0" smtClean="0">
                <a:latin typeface="宋体" charset="0"/>
                <a:cs typeface="宋体" charset="0"/>
              </a:rPr>
              <a:t>.$</a:t>
            </a:r>
            <a:r>
              <a:rPr lang="en-US" altLang="zh-CN" sz="14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宋体" charset="0"/>
                <a:cs typeface="宋体" charset="0"/>
              </a:rPr>
              <a:t>media-</a:t>
            </a:r>
            <a:r>
              <a:rPr lang="en-US" altLang="zh-CN" sz="1400" u="sng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宋体" charset="0"/>
                <a:cs typeface="宋体" charset="0"/>
              </a:rPr>
              <a:t>type</a:t>
            </a:r>
            <a:r>
              <a:rPr lang="en-US" altLang="zh-CN" sz="1400" b="0" dirty="0" err="1" smtClean="0">
                <a:latin typeface="宋体" charset="0"/>
                <a:cs typeface="宋体" charset="0"/>
              </a:rPr>
              <a:t>.Media.EXTERNAL_CONTENT_URI</a:t>
            </a:r>
            <a:endParaRPr lang="en-US" altLang="zh-CN" sz="1400" b="0" dirty="0" smtClean="0">
              <a:latin typeface="宋体" charset="0"/>
              <a:cs typeface="宋体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212725" y="4539933"/>
            <a:ext cx="10879818" cy="15684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zh-CN" altLang="en-US" sz="1600" b="0" dirty="0">
                <a:latin typeface="宋体" charset="0"/>
                <a:cs typeface="宋体" charset="0"/>
              </a:rPr>
              <a:t>另外还包括一个比较特殊的</a:t>
            </a:r>
            <a:r>
              <a:rPr lang="en-US" altLang="zh-CN" sz="1600" b="0" dirty="0">
                <a:latin typeface="宋体" charset="0"/>
                <a:cs typeface="宋体" charset="0"/>
              </a:rPr>
              <a:t>Uri</a:t>
            </a:r>
            <a:endParaRPr lang="zh-CN" altLang="en-US" sz="1600" b="0" dirty="0">
              <a:latin typeface="宋体" charset="0"/>
              <a:cs typeface="宋体" charset="0"/>
            </a:endParaRPr>
          </a:p>
          <a:p>
            <a:pPr algn="l"/>
            <a:endParaRPr lang="zh-CN" altLang="en-US" sz="1600" b="0" dirty="0">
              <a:latin typeface="宋体" charset="0"/>
              <a:cs typeface="宋体" charset="0"/>
            </a:endParaRPr>
          </a:p>
          <a:p>
            <a:pPr algn="l"/>
            <a:r>
              <a:rPr lang="zh-CN" altLang="en-US" sz="1600" b="0" dirty="0" smtClean="0">
                <a:latin typeface="宋体" charset="0"/>
                <a:cs typeface="宋体" charset="0"/>
              </a:rPr>
              <a:t>MediaStore.</a:t>
            </a:r>
            <a:r>
              <a:rPr lang="zh-CN" altLang="en-US" sz="1600" dirty="0" smtClean="0">
                <a:latin typeface="宋体" charset="0"/>
                <a:cs typeface="宋体" charset="0"/>
              </a:rPr>
              <a:t>Files</a:t>
            </a:r>
            <a:r>
              <a:rPr lang="zh-CN" altLang="en-US" sz="1600" b="0" dirty="0" smtClean="0">
                <a:latin typeface="宋体" charset="0"/>
                <a:cs typeface="宋体" charset="0"/>
              </a:rPr>
              <a:t>.getContentUri(MediaStore.VOLUME_EXTERNAL_PRIMARY)</a:t>
            </a:r>
            <a:endParaRPr lang="zh-CN" altLang="en-US" sz="1600" b="0" dirty="0">
              <a:latin typeface="宋体" charset="0"/>
              <a:cs typeface="宋体" charset="0"/>
            </a:endParaRPr>
          </a:p>
          <a:p>
            <a:pPr algn="l"/>
            <a:endParaRPr lang="zh-CN" altLang="en-US" sz="1600" b="0" dirty="0">
              <a:latin typeface="宋体" charset="0"/>
              <a:cs typeface="宋体" charset="0"/>
            </a:endParaRPr>
          </a:p>
          <a:p>
            <a:pPr algn="l"/>
            <a:r>
              <a:rPr lang="zh-CN" altLang="en-US" sz="1600" b="0" dirty="0">
                <a:latin typeface="宋体" charset="0"/>
                <a:cs typeface="宋体" charset="0"/>
              </a:rPr>
              <a:t>如果没有申请</a:t>
            </a:r>
            <a:r>
              <a:rPr lang="en-US" altLang="zh-CN" sz="1600" b="0" dirty="0">
                <a:latin typeface="宋体" charset="0"/>
                <a:cs typeface="宋体" charset="0"/>
              </a:rPr>
              <a:t>READ_EXTERNAL_STORAGE</a:t>
            </a:r>
            <a:r>
              <a:rPr lang="zh-CN" altLang="en-US" sz="1600" b="0" dirty="0">
                <a:latin typeface="宋体" charset="0"/>
                <a:cs typeface="宋体" charset="0"/>
              </a:rPr>
              <a:t>权限，可以读取应用自己添加的所有媒体</a:t>
            </a:r>
            <a:r>
              <a:rPr lang="zh-CN" altLang="en-US" sz="1600" b="0" dirty="0" smtClean="0">
                <a:latin typeface="宋体" charset="0"/>
                <a:cs typeface="宋体" charset="0"/>
              </a:rPr>
              <a:t>文件，若</a:t>
            </a:r>
            <a:r>
              <a:rPr lang="zh-CN" altLang="en-US" sz="1600" b="0" dirty="0">
                <a:latin typeface="宋体" charset="0"/>
                <a:cs typeface="宋体" charset="0"/>
              </a:rPr>
              <a:t>申请了则可以显示非应用自身添加的媒体文件</a:t>
            </a:r>
            <a:r>
              <a:rPr lang="zh-CN" altLang="en-US" sz="1600" b="0" dirty="0" smtClean="0">
                <a:latin typeface="宋体" charset="0"/>
                <a:cs typeface="宋体" charset="0"/>
              </a:rPr>
              <a:t>。</a:t>
            </a:r>
            <a:endParaRPr lang="zh-CN" altLang="en-US" dirty="0"/>
          </a:p>
        </p:txBody>
      </p:sp>
      <p:sp>
        <p:nvSpPr>
          <p:cNvPr id="6" name="标题 2"/>
          <p:cNvSpPr>
            <a:spLocks noGrp="1"/>
          </p:cNvSpPr>
          <p:nvPr>
            <p:ph type="title" idx="4294967295"/>
          </p:nvPr>
        </p:nvSpPr>
        <p:spPr>
          <a:xfrm>
            <a:off x="0" y="344805"/>
            <a:ext cx="5443855" cy="264795"/>
          </a:xfrm>
        </p:spPr>
        <p:txBody>
          <a:bodyPr/>
          <a:lstStyle/>
          <a:p>
            <a:pPr defTabSz="531495" hangingPunct="1">
              <a:lnSpc>
                <a:spcPct val="120000"/>
              </a:lnSpc>
            </a:pPr>
            <a:r>
              <a:rPr kumimoji="1" lang="zh-CN" altLang="en-US" dirty="0" smtClean="0">
                <a:latin typeface="SimHei" charset="-122"/>
                <a:ea typeface="SimHei" charset="-122"/>
                <a:cs typeface="SimHei" charset="-122"/>
              </a:rPr>
              <a:t>相关</a:t>
            </a:r>
            <a:r>
              <a:rPr kumimoji="1" lang="en-US" altLang="zh-CN" dirty="0">
                <a:latin typeface="SimHei" charset="-122"/>
                <a:ea typeface="SimHei" charset="-122"/>
                <a:cs typeface="SimHei" charset="-122"/>
              </a:rPr>
              <a:t>API</a:t>
            </a:r>
            <a:r>
              <a:rPr kumimoji="1" lang="zh-CN" altLang="en-US" dirty="0">
                <a:latin typeface="SimHei" charset="-122"/>
                <a:ea typeface="SimHei" charset="-122"/>
                <a:cs typeface="SimHei" charset="-122"/>
              </a:rPr>
              <a:t>使用</a:t>
            </a:r>
            <a:endParaRPr kumimoji="1" lang="zh-CN" altLang="en-US" dirty="0">
              <a:latin typeface="SimHei" charset="-122"/>
              <a:ea typeface="SimHei" charset="-122"/>
              <a:cs typeface="SimHei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246"/>
          <p:cNvSpPr txBox="1"/>
          <p:nvPr/>
        </p:nvSpPr>
        <p:spPr>
          <a:xfrm>
            <a:off x="317499" y="709260"/>
            <a:ext cx="6661523" cy="457424"/>
          </a:xfrm>
          <a:prstGeom prst="rect">
            <a:avLst/>
          </a:prstGeom>
        </p:spPr>
        <p:txBody>
          <a:bodyPr lIns="36000" tIns="36000" rIns="36000" bIns="3600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9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2400" dirty="0"/>
              <a:t>查询元信息（大小、添加修改时间等）</a:t>
            </a:r>
            <a:r>
              <a:rPr lang="en-US" altLang="zh-CN" sz="2400" dirty="0"/>
              <a:t>:</a:t>
            </a:r>
            <a:br>
              <a:rPr lang="en-US" altLang="zh-CN" sz="2400" dirty="0"/>
            </a:br>
            <a:br>
              <a:rPr lang="en-US" altLang="zh-CN" sz="2400" dirty="0"/>
            </a:br>
            <a:endParaRPr lang="en-US" altLang="zh-CN" sz="2400" dirty="0"/>
          </a:p>
        </p:txBody>
      </p:sp>
      <p:sp>
        <p:nvSpPr>
          <p:cNvPr id="2" name="幻灯片编号占位符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2E6D20B-5538-E34D-91FE-E40835CF0C83}" type="slidenum">
              <a:rPr kumimoji="1" lang="zh-CN" altLang="en-US" smtClean="0">
                <a:latin typeface="SimHei" charset="-122"/>
                <a:ea typeface="SimHei" charset="-122"/>
                <a:cs typeface="SimHei" charset="-122"/>
              </a:rPr>
            </a:fld>
            <a:endParaRPr kumimoji="1" lang="zh-CN" altLang="en-US" dirty="0">
              <a:latin typeface="SimHei" charset="-122"/>
              <a:ea typeface="SimHei" charset="-122"/>
              <a:cs typeface="SimHei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029" y="1108129"/>
            <a:ext cx="7895700" cy="5372046"/>
          </a:xfrm>
          <a:prstGeom prst="rect">
            <a:avLst/>
          </a:prstGeom>
        </p:spPr>
      </p:pic>
      <p:sp>
        <p:nvSpPr>
          <p:cNvPr id="5" name="标题 2"/>
          <p:cNvSpPr>
            <a:spLocks noGrp="1"/>
          </p:cNvSpPr>
          <p:nvPr>
            <p:ph type="title" idx="4294967295"/>
          </p:nvPr>
        </p:nvSpPr>
        <p:spPr>
          <a:xfrm>
            <a:off x="0" y="344805"/>
            <a:ext cx="5443855" cy="264795"/>
          </a:xfrm>
        </p:spPr>
        <p:txBody>
          <a:bodyPr/>
          <a:lstStyle/>
          <a:p>
            <a:pPr defTabSz="531495" hangingPunct="1">
              <a:lnSpc>
                <a:spcPct val="120000"/>
              </a:lnSpc>
            </a:pPr>
            <a:r>
              <a:rPr kumimoji="1" lang="zh-CN" altLang="en-US" dirty="0" smtClean="0">
                <a:latin typeface="SimHei" charset="-122"/>
                <a:ea typeface="SimHei" charset="-122"/>
                <a:cs typeface="SimHei" charset="-122"/>
              </a:rPr>
              <a:t>相关</a:t>
            </a:r>
            <a:r>
              <a:rPr kumimoji="1" lang="en-US" altLang="zh-CN" dirty="0">
                <a:latin typeface="SimHei" charset="-122"/>
                <a:ea typeface="SimHei" charset="-122"/>
                <a:cs typeface="SimHei" charset="-122"/>
              </a:rPr>
              <a:t>API</a:t>
            </a:r>
            <a:r>
              <a:rPr kumimoji="1" lang="zh-CN" altLang="en-US" dirty="0">
                <a:latin typeface="SimHei" charset="-122"/>
                <a:ea typeface="SimHei" charset="-122"/>
                <a:cs typeface="SimHei" charset="-122"/>
              </a:rPr>
              <a:t>使用</a:t>
            </a:r>
            <a:endParaRPr kumimoji="1" lang="zh-CN" altLang="en-US" dirty="0">
              <a:latin typeface="SimHei" charset="-122"/>
              <a:ea typeface="SimHei" charset="-122"/>
              <a:cs typeface="SimHei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编号占位符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2E6D20B-5538-E34D-91FE-E40835CF0C83}" type="slidenum">
              <a:rPr kumimoji="1" lang="zh-CN" altLang="en-US" smtClean="0">
                <a:latin typeface="SimHei" charset="-122"/>
                <a:ea typeface="SimHei" charset="-122"/>
                <a:cs typeface="SimHei" charset="-122"/>
              </a:rPr>
            </a:fld>
            <a:endParaRPr kumimoji="1" lang="zh-CN" altLang="en-US" dirty="0"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5" name="标题 2"/>
          <p:cNvSpPr>
            <a:spLocks noGrp="1"/>
          </p:cNvSpPr>
          <p:nvPr>
            <p:ph type="title" idx="4294967295"/>
          </p:nvPr>
        </p:nvSpPr>
        <p:spPr>
          <a:xfrm>
            <a:off x="0" y="344805"/>
            <a:ext cx="5443855" cy="264795"/>
          </a:xfrm>
        </p:spPr>
        <p:txBody>
          <a:bodyPr/>
          <a:lstStyle/>
          <a:p>
            <a:pPr defTabSz="531495" hangingPunct="1">
              <a:lnSpc>
                <a:spcPct val="120000"/>
              </a:lnSpc>
            </a:pPr>
            <a:r>
              <a:rPr kumimoji="1" lang="zh-CN" altLang="en-US" dirty="0" smtClean="0">
                <a:latin typeface="SimHei" charset="-122"/>
                <a:ea typeface="SimHei" charset="-122"/>
                <a:cs typeface="SimHei" charset="-122"/>
              </a:rPr>
              <a:t>相关</a:t>
            </a:r>
            <a:r>
              <a:rPr kumimoji="1" lang="en-US" altLang="zh-CN" dirty="0">
                <a:latin typeface="SimHei" charset="-122"/>
                <a:ea typeface="SimHei" charset="-122"/>
                <a:cs typeface="SimHei" charset="-122"/>
              </a:rPr>
              <a:t>API</a:t>
            </a:r>
            <a:r>
              <a:rPr kumimoji="1" lang="zh-CN" altLang="en-US" dirty="0">
                <a:latin typeface="SimHei" charset="-122"/>
                <a:ea typeface="SimHei" charset="-122"/>
                <a:cs typeface="SimHei" charset="-122"/>
              </a:rPr>
              <a:t>使用</a:t>
            </a:r>
            <a:endParaRPr kumimoji="1" lang="zh-CN" altLang="en-US" dirty="0"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85765" y="606901"/>
            <a:ext cx="10649585" cy="39878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marL="0" indent="0" algn="l"/>
            <a:r>
              <a:rPr lang="zh-CN" sz="2000" b="1" dirty="0"/>
              <a:t>读文件内容</a:t>
            </a:r>
            <a:r>
              <a:rPr lang="en-US" altLang="zh-CN" sz="2000" b="1" dirty="0" smtClean="0"/>
              <a:t>:</a:t>
            </a:r>
            <a:endParaRPr lang="zh-CN" altLang="en-US" sz="2000" b="0" dirty="0">
              <a:latin typeface="宋体" charset="0"/>
              <a:cs typeface="宋体" charset="0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3299" y="719158"/>
            <a:ext cx="7963535" cy="370840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8048" y="4565856"/>
            <a:ext cx="8154035" cy="179070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-478632" y="4926938"/>
            <a:ext cx="2767965" cy="321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/>
              <a:t>或直接打开文件</a:t>
            </a:r>
            <a:r>
              <a:rPr lang="zh-CN" altLang="en-US" dirty="0"/>
              <a:t>流</a:t>
            </a:r>
            <a:endParaRPr lang="zh-CN" altLang="en-US" dirty="0"/>
          </a:p>
        </p:txBody>
      </p:sp>
      <p:sp>
        <p:nvSpPr>
          <p:cNvPr id="3" name="矩形 2"/>
          <p:cNvSpPr/>
          <p:nvPr/>
        </p:nvSpPr>
        <p:spPr>
          <a:xfrm>
            <a:off x="100254" y="1821061"/>
            <a:ext cx="1709057" cy="181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zh-CN" altLang="en-US" sz="1400" b="0" dirty="0" smtClean="0">
                <a:latin typeface="宋体" charset="0"/>
                <a:cs typeface="宋体" charset="0"/>
              </a:rPr>
              <a:t>虽然开启分区存储后，</a:t>
            </a:r>
            <a:r>
              <a:rPr lang="en-US" altLang="zh-CN" sz="1400" b="0" dirty="0" smtClean="0">
                <a:latin typeface="宋体" charset="0"/>
                <a:cs typeface="宋体" charset="0"/>
              </a:rPr>
              <a:t>Android R</a:t>
            </a:r>
            <a:r>
              <a:rPr lang="zh-CN" altLang="en-US" sz="1400" b="0" dirty="0" smtClean="0">
                <a:latin typeface="宋体" charset="0"/>
                <a:cs typeface="宋体" charset="0"/>
              </a:rPr>
              <a:t>支持直接用</a:t>
            </a:r>
            <a:r>
              <a:rPr lang="en-US" altLang="zh-CN" sz="1400" b="0" dirty="0" smtClean="0">
                <a:latin typeface="宋体" charset="0"/>
                <a:cs typeface="宋体" charset="0"/>
              </a:rPr>
              <a:t>Java File API</a:t>
            </a:r>
            <a:r>
              <a:rPr lang="zh-CN" altLang="en-US" sz="1400" b="0" dirty="0" smtClean="0">
                <a:latin typeface="宋体" charset="0"/>
                <a:cs typeface="宋体" charset="0"/>
              </a:rPr>
              <a:t>读取，</a:t>
            </a:r>
            <a:r>
              <a:rPr lang="zh-CN" altLang="en-US" sz="1400" b="0" dirty="0" smtClean="0">
                <a:solidFill>
                  <a:srgbClr val="FF0000"/>
                </a:solidFill>
                <a:latin typeface="宋体" charset="0"/>
                <a:cs typeface="宋体" charset="0"/>
              </a:rPr>
              <a:t>兼容性等原因</a:t>
            </a:r>
            <a:r>
              <a:rPr lang="zh-CN" altLang="en-US" sz="1400" b="0" dirty="0" smtClean="0">
                <a:latin typeface="宋体" charset="0"/>
                <a:cs typeface="宋体" charset="0"/>
              </a:rPr>
              <a:t>，建议统一使用这种方式，后面所述的添加，修改，删除也一样</a:t>
            </a:r>
            <a:endParaRPr lang="en-US" altLang="zh-CN" sz="1400" b="0" dirty="0">
              <a:latin typeface="宋体" charset="0"/>
              <a:cs typeface="宋体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编号占位符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2E6D20B-5538-E34D-91FE-E40835CF0C83}" type="slidenum">
              <a:rPr kumimoji="1" lang="zh-CN" altLang="en-US" smtClean="0">
                <a:latin typeface="SimHei" charset="-122"/>
                <a:ea typeface="SimHei" charset="-122"/>
                <a:cs typeface="SimHei" charset="-122"/>
              </a:rPr>
            </a:fld>
            <a:endParaRPr kumimoji="1" lang="zh-CN" altLang="en-US" dirty="0"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5" name="标题 2"/>
          <p:cNvSpPr>
            <a:spLocks noGrp="1"/>
          </p:cNvSpPr>
          <p:nvPr>
            <p:ph type="title" idx="4294967295"/>
          </p:nvPr>
        </p:nvSpPr>
        <p:spPr>
          <a:xfrm>
            <a:off x="0" y="344805"/>
            <a:ext cx="5443855" cy="264795"/>
          </a:xfrm>
        </p:spPr>
        <p:txBody>
          <a:bodyPr/>
          <a:lstStyle/>
          <a:p>
            <a:pPr defTabSz="531495" hangingPunct="1">
              <a:lnSpc>
                <a:spcPct val="120000"/>
              </a:lnSpc>
            </a:pPr>
            <a:r>
              <a:rPr kumimoji="1" lang="zh-CN" altLang="en-US" dirty="0" smtClean="0">
                <a:latin typeface="SimHei" charset="-122"/>
                <a:ea typeface="SimHei" charset="-122"/>
                <a:cs typeface="SimHei" charset="-122"/>
              </a:rPr>
              <a:t>相关</a:t>
            </a:r>
            <a:r>
              <a:rPr kumimoji="1" lang="en-US" altLang="zh-CN" dirty="0">
                <a:latin typeface="SimHei" charset="-122"/>
                <a:ea typeface="SimHei" charset="-122"/>
                <a:cs typeface="SimHei" charset="-122"/>
              </a:rPr>
              <a:t>API</a:t>
            </a:r>
            <a:r>
              <a:rPr kumimoji="1" lang="zh-CN" altLang="en-US" dirty="0">
                <a:latin typeface="SimHei" charset="-122"/>
                <a:ea typeface="SimHei" charset="-122"/>
                <a:cs typeface="SimHei" charset="-122"/>
              </a:rPr>
              <a:t>使用</a:t>
            </a:r>
            <a:endParaRPr kumimoji="1" lang="zh-CN" altLang="en-US" dirty="0"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317501" y="609601"/>
            <a:ext cx="10649585" cy="39878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marL="0" indent="0" algn="l"/>
            <a:r>
              <a:rPr lang="zh-CN" altLang="en-US" sz="2000" b="1" dirty="0"/>
              <a:t>添加</a:t>
            </a:r>
            <a:r>
              <a:rPr lang="en-US" altLang="zh-CN" sz="2000" b="1" dirty="0" smtClean="0"/>
              <a:t>:</a:t>
            </a:r>
            <a:endParaRPr lang="zh-CN" altLang="en-US" sz="2000" b="0" dirty="0">
              <a:latin typeface="宋体" charset="0"/>
              <a:cs typeface="宋体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545" y="1274823"/>
            <a:ext cx="11202988" cy="4252563"/>
          </a:xfrm>
          <a:prstGeom prst="rect">
            <a:avLst/>
          </a:prstGeom>
        </p:spPr>
      </p:pic>
      <p:sp>
        <p:nvSpPr>
          <p:cNvPr id="8" name="椭圆形标注 7"/>
          <p:cNvSpPr/>
          <p:nvPr/>
        </p:nvSpPr>
        <p:spPr>
          <a:xfrm>
            <a:off x="8135938" y="174541"/>
            <a:ext cx="2257425" cy="1226334"/>
          </a:xfrm>
          <a:prstGeom prst="wedgeEllipseCallou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Helvetica Neue" panose="02000503000000020004"/>
              </a:rPr>
              <a:t>不用再添加</a:t>
            </a:r>
            <a:r>
              <a:rPr lang="en-US" altLang="zh-CN" sz="1600" b="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Helvetica Neue" panose="02000503000000020004"/>
              </a:rPr>
              <a:t>_data</a:t>
            </a:r>
            <a:r>
              <a:rPr lang="zh-CN" altLang="en-US" sz="1600" b="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Helvetica Neue" panose="02000503000000020004"/>
              </a:rPr>
              <a:t>路径，</a:t>
            </a:r>
            <a:r>
              <a:rPr lang="en-US" altLang="zh-CN" sz="1600" b="0" dirty="0" err="1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Helvetica Neue" panose="02000503000000020004"/>
              </a:rPr>
              <a:t>MediaProvider</a:t>
            </a:r>
            <a:r>
              <a:rPr lang="zh-CN" altLang="en-US" sz="1600" b="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Helvetica Neue" panose="02000503000000020004"/>
              </a:rPr>
              <a:t>会给我们生成</a:t>
            </a:r>
            <a:endParaRPr lang="zh-CN" altLang="en-US" sz="1600" b="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Helvetica Neue" panose="02000503000000020004"/>
            </a:endParaRPr>
          </a:p>
        </p:txBody>
      </p:sp>
      <p:sp>
        <p:nvSpPr>
          <p:cNvPr id="7" name="椭圆形标注 6"/>
          <p:cNvSpPr/>
          <p:nvPr/>
        </p:nvSpPr>
        <p:spPr>
          <a:xfrm>
            <a:off x="8709661" y="2155371"/>
            <a:ext cx="2652872" cy="1640361"/>
          </a:xfrm>
          <a:prstGeom prst="wedgeEllipseCallou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Helvetica Neue" panose="02000503000000020004"/>
              </a:rPr>
              <a:t>记得关闭文件描述符</a:t>
            </a:r>
            <a:endParaRPr lang="zh-CN" altLang="en-US" sz="1600" b="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Helvetica Neue" panose="020005030000000200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编号占位符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2E6D20B-5538-E34D-91FE-E40835CF0C83}" type="slidenum">
              <a:rPr kumimoji="1" lang="zh-CN" altLang="en-US" smtClean="0">
                <a:latin typeface="SimHei" charset="-122"/>
                <a:ea typeface="SimHei" charset="-122"/>
                <a:cs typeface="SimHei" charset="-122"/>
              </a:rPr>
            </a:fld>
            <a:endParaRPr kumimoji="1" lang="zh-CN" altLang="en-US" dirty="0"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5" name="标题 2"/>
          <p:cNvSpPr>
            <a:spLocks noGrp="1"/>
          </p:cNvSpPr>
          <p:nvPr>
            <p:ph type="title" idx="4294967295"/>
          </p:nvPr>
        </p:nvSpPr>
        <p:spPr>
          <a:xfrm>
            <a:off x="0" y="344805"/>
            <a:ext cx="5443855" cy="264795"/>
          </a:xfrm>
        </p:spPr>
        <p:txBody>
          <a:bodyPr/>
          <a:lstStyle/>
          <a:p>
            <a:pPr defTabSz="531495" hangingPunct="1">
              <a:lnSpc>
                <a:spcPct val="120000"/>
              </a:lnSpc>
            </a:pPr>
            <a:r>
              <a:rPr kumimoji="1" lang="zh-CN" altLang="en-US" dirty="0" smtClean="0">
                <a:latin typeface="SimHei" charset="-122"/>
                <a:ea typeface="SimHei" charset="-122"/>
                <a:cs typeface="SimHei" charset="-122"/>
              </a:rPr>
              <a:t>相关</a:t>
            </a:r>
            <a:r>
              <a:rPr kumimoji="1" lang="en-US" altLang="zh-CN" dirty="0">
                <a:latin typeface="SimHei" charset="-122"/>
                <a:ea typeface="SimHei" charset="-122"/>
                <a:cs typeface="SimHei" charset="-122"/>
              </a:rPr>
              <a:t>API</a:t>
            </a:r>
            <a:r>
              <a:rPr kumimoji="1" lang="zh-CN" altLang="en-US" dirty="0">
                <a:latin typeface="SimHei" charset="-122"/>
                <a:ea typeface="SimHei" charset="-122"/>
                <a:cs typeface="SimHei" charset="-122"/>
              </a:rPr>
              <a:t>使用</a:t>
            </a:r>
            <a:endParaRPr kumimoji="1" lang="zh-CN" altLang="en-US" dirty="0"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317501" y="743837"/>
            <a:ext cx="10973014" cy="16300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zh-CN" altLang="en-US" sz="2000" dirty="0" smtClean="0"/>
              <a:t>删除与修改</a:t>
            </a:r>
            <a:r>
              <a:rPr lang="en-US" altLang="zh-CN" sz="2000" dirty="0"/>
              <a:t>:</a:t>
            </a:r>
            <a:br>
              <a:rPr lang="en-US" altLang="zh-CN" sz="2000" dirty="0"/>
            </a:br>
            <a:r>
              <a:rPr lang="en-US" altLang="zh-CN" sz="1600" dirty="0"/>
              <a:t>					</a:t>
            </a:r>
            <a:endParaRPr lang="en-US" altLang="zh-CN" sz="1600" dirty="0"/>
          </a:p>
          <a:p>
            <a:pPr algn="l"/>
            <a:r>
              <a:rPr lang="zh-CN" altLang="en-US" sz="1600" b="0" dirty="0">
                <a:latin typeface="宋体" charset="0"/>
                <a:cs typeface="宋体" charset="0"/>
              </a:rPr>
              <a:t>应用自身添加：</a:t>
            </a:r>
            <a:endParaRPr lang="zh-CN" altLang="en-US" sz="1600" b="0" dirty="0">
              <a:latin typeface="宋体" charset="0"/>
              <a:cs typeface="宋体" charset="0"/>
            </a:endParaRPr>
          </a:p>
          <a:p>
            <a:pPr algn="l"/>
            <a:endParaRPr lang="zh-CN" altLang="en-US" sz="1600" b="0" dirty="0">
              <a:latin typeface="宋体" charset="0"/>
              <a:cs typeface="宋体" charset="0"/>
            </a:endParaRPr>
          </a:p>
          <a:p>
            <a:pPr algn="l"/>
            <a:r>
              <a:rPr lang="zh-CN" altLang="en-US" sz="1600" b="0" dirty="0">
                <a:latin typeface="宋体" charset="0"/>
                <a:cs typeface="宋体" charset="0"/>
              </a:rPr>
              <a:t>和以前一样直接使用</a:t>
            </a:r>
            <a:r>
              <a:rPr lang="en-US" altLang="zh-CN" sz="1600" b="0" dirty="0" err="1">
                <a:latin typeface="宋体" charset="0"/>
                <a:cs typeface="宋体" charset="0"/>
              </a:rPr>
              <a:t>ContentResolver</a:t>
            </a:r>
            <a:r>
              <a:rPr lang="zh-CN" altLang="en-US" sz="1600" b="0" dirty="0">
                <a:latin typeface="宋体" charset="0"/>
                <a:cs typeface="宋体" charset="0"/>
              </a:rPr>
              <a:t>删除或者</a:t>
            </a:r>
            <a:r>
              <a:rPr lang="zh-CN" altLang="en-US" sz="1600" b="0" dirty="0" smtClean="0">
                <a:latin typeface="宋体" charset="0"/>
                <a:cs typeface="宋体" charset="0"/>
              </a:rPr>
              <a:t>更新字段即</a:t>
            </a:r>
            <a:r>
              <a:rPr lang="zh-CN" altLang="en-US" sz="1600" b="0" dirty="0">
                <a:latin typeface="宋体" charset="0"/>
                <a:cs typeface="宋体" charset="0"/>
              </a:rPr>
              <a:t>可，对于文件内容</a:t>
            </a:r>
            <a:r>
              <a:rPr lang="zh-CN" altLang="en-US" sz="1600" b="0" dirty="0" smtClean="0">
                <a:latin typeface="宋体" charset="0"/>
                <a:cs typeface="宋体" charset="0"/>
              </a:rPr>
              <a:t>，打开的文件描述符操作即可。</a:t>
            </a:r>
            <a:br>
              <a:rPr lang="zh-CN" altLang="en-US" sz="1600" b="0" dirty="0">
                <a:latin typeface="宋体" charset="0"/>
                <a:cs typeface="宋体" charset="0"/>
              </a:rPr>
            </a:br>
            <a:endParaRPr lang="zh-CN" altLang="en-US" sz="1600" b="0" dirty="0">
              <a:latin typeface="宋体" charset="0"/>
              <a:cs typeface="宋体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317500" y="2930365"/>
            <a:ext cx="10438323" cy="181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zh-CN" altLang="en-US" sz="1600" b="0" dirty="0">
                <a:latin typeface="宋体" charset="0"/>
                <a:cs typeface="宋体" charset="0"/>
              </a:rPr>
              <a:t>其他应用添加的</a:t>
            </a:r>
            <a:r>
              <a:rPr lang="en-US" altLang="zh-CN" sz="1600" b="0" dirty="0">
                <a:latin typeface="宋体" charset="0"/>
                <a:cs typeface="宋体" charset="0"/>
              </a:rPr>
              <a:t>: </a:t>
            </a:r>
            <a:r>
              <a:rPr lang="zh-CN" altLang="en-US" sz="1600" b="0" dirty="0" smtClean="0">
                <a:latin typeface="宋体" charset="0"/>
                <a:cs typeface="宋体" charset="0"/>
              </a:rPr>
              <a:t>（</a:t>
            </a:r>
            <a:r>
              <a:rPr lang="zh-CN" altLang="en-US" sz="1600" b="0" dirty="0" smtClean="0">
                <a:latin typeface="宋体" charset="0"/>
                <a:cs typeface="宋体" charset="0"/>
                <a:sym typeface="+mn-ea"/>
              </a:rPr>
              <a:t>应用</a:t>
            </a:r>
            <a:r>
              <a:rPr lang="zh-CN" altLang="en-US" sz="1600" b="0" dirty="0">
                <a:latin typeface="宋体" charset="0"/>
                <a:cs typeface="宋体" charset="0"/>
                <a:sym typeface="+mn-ea"/>
              </a:rPr>
              <a:t>卸载后再安装也算）</a:t>
            </a:r>
            <a:endParaRPr lang="zh-CN" altLang="en-US" sz="1600" b="0" dirty="0">
              <a:latin typeface="宋体" charset="0"/>
              <a:cs typeface="宋体" charset="0"/>
              <a:sym typeface="+mn-ea"/>
            </a:endParaRPr>
          </a:p>
          <a:p>
            <a:pPr algn="l"/>
            <a:endParaRPr lang="zh-CN" altLang="en-US" sz="1600" b="0" dirty="0">
              <a:latin typeface="宋体" charset="0"/>
              <a:cs typeface="宋体" charset="0"/>
              <a:sym typeface="+mn-ea"/>
            </a:endParaRPr>
          </a:p>
          <a:p>
            <a:pPr algn="l"/>
            <a:endParaRPr lang="en-US" altLang="zh-CN" sz="1600" b="0" dirty="0">
              <a:latin typeface="宋体" charset="0"/>
              <a:cs typeface="宋体" charset="0"/>
            </a:endParaRPr>
          </a:p>
          <a:p>
            <a:pPr algn="l"/>
            <a:endParaRPr lang="en-US" altLang="zh-CN" sz="1600" b="0" dirty="0">
              <a:latin typeface="宋体" charset="0"/>
              <a:cs typeface="宋体" charset="0"/>
            </a:endParaRPr>
          </a:p>
          <a:p>
            <a:pPr algn="l"/>
            <a:r>
              <a:rPr lang="zh-CN" altLang="en-US" sz="1600" b="0" dirty="0">
                <a:latin typeface="宋体" charset="0"/>
                <a:cs typeface="宋体" charset="0"/>
              </a:rPr>
              <a:t>当应用第一次去更新文件元信息，内容，或者删除的时候，系统会抛出</a:t>
            </a:r>
            <a:r>
              <a:rPr lang="zh-CN" altLang="en-US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宋体" charset="0"/>
                <a:cs typeface="宋体" charset="0"/>
              </a:rPr>
              <a:t>RecoverableSecurityException</a:t>
            </a:r>
            <a:r>
              <a:rPr lang="zh-CN" altLang="en-US" sz="1600" b="0" dirty="0">
                <a:latin typeface="宋体" charset="0"/>
                <a:cs typeface="宋体" charset="0"/>
              </a:rPr>
              <a:t>，再</a:t>
            </a:r>
            <a:endParaRPr lang="zh-CN" altLang="en-US" sz="1600" b="0" dirty="0">
              <a:latin typeface="宋体" charset="0"/>
              <a:cs typeface="宋体" charset="0"/>
            </a:endParaRPr>
          </a:p>
          <a:p>
            <a:pPr algn="l"/>
            <a:endParaRPr lang="zh-CN" altLang="en-US" sz="1600" b="0" dirty="0">
              <a:latin typeface="宋体" charset="0"/>
              <a:cs typeface="宋体" charset="0"/>
            </a:endParaRPr>
          </a:p>
          <a:p>
            <a:pPr algn="l"/>
            <a:r>
              <a:rPr lang="zh-CN" altLang="en-US" sz="1600" b="0" dirty="0">
                <a:latin typeface="宋体" charset="0"/>
                <a:cs typeface="宋体" charset="0"/>
              </a:rPr>
              <a:t>利用异常提供</a:t>
            </a:r>
            <a:r>
              <a:rPr lang="en-US" altLang="zh-CN" sz="1600" b="0" dirty="0">
                <a:latin typeface="宋体" charset="0"/>
                <a:cs typeface="宋体" charset="0"/>
              </a:rPr>
              <a:t>Intent</a:t>
            </a:r>
            <a:r>
              <a:rPr lang="zh-CN" altLang="en-US" sz="1600" b="0" dirty="0">
                <a:latin typeface="宋体" charset="0"/>
                <a:cs typeface="宋体" charset="0"/>
              </a:rPr>
              <a:t>信息启动用户允许弹框，若用户同意了则可以继续修改，若不同意</a:t>
            </a:r>
            <a:r>
              <a:rPr lang="zh-CN" altLang="en-US" sz="1600" b="0" dirty="0" smtClean="0">
                <a:latin typeface="宋体" charset="0"/>
                <a:cs typeface="宋体" charset="0"/>
              </a:rPr>
              <a:t>，应给</a:t>
            </a:r>
            <a:r>
              <a:rPr lang="zh-CN" altLang="en-US" sz="1600" b="0" dirty="0">
                <a:latin typeface="宋体" charset="0"/>
                <a:cs typeface="宋体" charset="0"/>
              </a:rPr>
              <a:t>出相应的提示。</a:t>
            </a:r>
            <a:endParaRPr lang="zh-CN" altLang="en-US" sz="1600" b="0" dirty="0">
              <a:latin typeface="宋体" charset="0"/>
              <a:cs typeface="宋体" charset="0"/>
            </a:endParaRPr>
          </a:p>
        </p:txBody>
      </p:sp>
      <p:pic>
        <p:nvPicPr>
          <p:cNvPr id="7" name="图片 6" descr="Screenshot_20200822-23010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34505" y="609601"/>
            <a:ext cx="3009900" cy="53517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编号占位符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2E6D20B-5538-E34D-91FE-E40835CF0C83}" type="slidenum">
              <a:rPr kumimoji="1" lang="zh-CN" altLang="en-US" smtClean="0">
                <a:latin typeface="SimHei" charset="-122"/>
                <a:ea typeface="SimHei" charset="-122"/>
                <a:cs typeface="SimHei" charset="-122"/>
              </a:rPr>
            </a:fld>
            <a:endParaRPr kumimoji="1" lang="zh-CN" altLang="en-US" dirty="0"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5" name="标题 2"/>
          <p:cNvSpPr>
            <a:spLocks noGrp="1"/>
          </p:cNvSpPr>
          <p:nvPr>
            <p:ph type="title" idx="4294967295"/>
          </p:nvPr>
        </p:nvSpPr>
        <p:spPr>
          <a:xfrm>
            <a:off x="0" y="344805"/>
            <a:ext cx="5443855" cy="264795"/>
          </a:xfrm>
        </p:spPr>
        <p:txBody>
          <a:bodyPr/>
          <a:lstStyle/>
          <a:p>
            <a:pPr defTabSz="531495" hangingPunct="1">
              <a:lnSpc>
                <a:spcPct val="120000"/>
              </a:lnSpc>
            </a:pPr>
            <a:r>
              <a:rPr kumimoji="1" lang="zh-CN" altLang="en-US" dirty="0" smtClean="0">
                <a:latin typeface="SimHei" charset="-122"/>
                <a:ea typeface="SimHei" charset="-122"/>
                <a:cs typeface="SimHei" charset="-122"/>
              </a:rPr>
              <a:t>相关</a:t>
            </a:r>
            <a:r>
              <a:rPr kumimoji="1" lang="en-US" altLang="zh-CN" dirty="0">
                <a:latin typeface="SimHei" charset="-122"/>
                <a:ea typeface="SimHei" charset="-122"/>
                <a:cs typeface="SimHei" charset="-122"/>
              </a:rPr>
              <a:t>API</a:t>
            </a:r>
            <a:r>
              <a:rPr kumimoji="1" lang="zh-CN" altLang="en-US" dirty="0">
                <a:latin typeface="SimHei" charset="-122"/>
                <a:ea typeface="SimHei" charset="-122"/>
                <a:cs typeface="SimHei" charset="-122"/>
              </a:rPr>
              <a:t>使用</a:t>
            </a:r>
            <a:endParaRPr kumimoji="1" lang="zh-CN" altLang="en-US" dirty="0"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349615" y="676322"/>
            <a:ext cx="1258570" cy="33718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600" dirty="0"/>
              <a:t>删除与修改</a:t>
            </a:r>
            <a:r>
              <a:rPr lang="en-US" altLang="zh-CN" sz="1600" dirty="0"/>
              <a:t>:</a:t>
            </a:r>
            <a:endParaRPr lang="zh-CN" altLang="en-US" dirty="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0299" y="508244"/>
            <a:ext cx="8219149" cy="589987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编号占位符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2E6D20B-5538-E34D-91FE-E40835CF0C83}" type="slidenum">
              <a:rPr kumimoji="1" lang="zh-CN" altLang="en-US" smtClean="0">
                <a:latin typeface="SimHei" charset="-122"/>
                <a:ea typeface="SimHei" charset="-122"/>
                <a:cs typeface="SimHei" charset="-122"/>
              </a:rPr>
            </a:fld>
            <a:endParaRPr kumimoji="1" lang="zh-CN" altLang="en-US" dirty="0"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5" name="标题 2"/>
          <p:cNvSpPr>
            <a:spLocks noGrp="1"/>
          </p:cNvSpPr>
          <p:nvPr>
            <p:ph type="title" idx="4294967295"/>
          </p:nvPr>
        </p:nvSpPr>
        <p:spPr>
          <a:xfrm>
            <a:off x="0" y="344805"/>
            <a:ext cx="5443855" cy="264795"/>
          </a:xfrm>
        </p:spPr>
        <p:txBody>
          <a:bodyPr/>
          <a:lstStyle/>
          <a:p>
            <a:pPr defTabSz="531495" hangingPunct="1">
              <a:lnSpc>
                <a:spcPct val="120000"/>
              </a:lnSpc>
            </a:pPr>
            <a:r>
              <a:rPr kumimoji="1" lang="zh-CN" altLang="en-US" dirty="0" smtClean="0">
                <a:latin typeface="SimHei" charset="-122"/>
                <a:ea typeface="SimHei" charset="-122"/>
                <a:cs typeface="SimHei" charset="-122"/>
              </a:rPr>
              <a:t>相关</a:t>
            </a:r>
            <a:r>
              <a:rPr kumimoji="1" lang="en-US" altLang="zh-CN" dirty="0">
                <a:latin typeface="SimHei" charset="-122"/>
                <a:ea typeface="SimHei" charset="-122"/>
                <a:cs typeface="SimHei" charset="-122"/>
              </a:rPr>
              <a:t>API</a:t>
            </a:r>
            <a:r>
              <a:rPr kumimoji="1" lang="zh-CN" altLang="en-US" dirty="0">
                <a:latin typeface="SimHei" charset="-122"/>
                <a:ea typeface="SimHei" charset="-122"/>
                <a:cs typeface="SimHei" charset="-122"/>
              </a:rPr>
              <a:t>使用</a:t>
            </a:r>
            <a:endParaRPr kumimoji="1" lang="zh-CN" altLang="en-US" dirty="0"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197091" y="665336"/>
            <a:ext cx="1462405" cy="33718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600" dirty="0"/>
              <a:t>查询可用</a:t>
            </a:r>
            <a:r>
              <a:rPr lang="zh-CN" altLang="en-US" sz="1600" dirty="0" smtClean="0"/>
              <a:t>空间</a:t>
            </a:r>
            <a:r>
              <a:rPr lang="en-US" altLang="zh-CN" sz="1600" dirty="0" smtClean="0"/>
              <a:t>:</a:t>
            </a:r>
            <a:endParaRPr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214108" y="2495312"/>
            <a:ext cx="10410484" cy="10147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zh-CN" altLang="en-US" dirty="0"/>
              <a:t>public </a:t>
            </a:r>
            <a:r>
              <a:rPr lang="zh-CN" altLang="en-US" dirty="0" smtClean="0"/>
              <a:t>long </a:t>
            </a:r>
            <a:r>
              <a:rPr lang="zh-CN" altLang="en-US" dirty="0"/>
              <a:t>getAllocatableBytes(@NonNull UUID storageUuid</a:t>
            </a:r>
            <a:r>
              <a:rPr lang="zh-CN" altLang="en-US" dirty="0" smtClean="0"/>
              <a:t>) throws IOException</a:t>
            </a:r>
            <a:endParaRPr lang="en-US" altLang="zh-CN" dirty="0" smtClean="0"/>
          </a:p>
          <a:p>
            <a:pPr algn="l"/>
            <a:endParaRPr lang="en-US" altLang="zh-CN" b="0" dirty="0" smtClean="0"/>
          </a:p>
          <a:p>
            <a:pPr algn="l"/>
            <a:r>
              <a:rPr lang="zh-CN" altLang="en-US" b="0" dirty="0" smtClean="0"/>
              <a:t>在工作线程调用，该接口计算的可用大小比</a:t>
            </a:r>
            <a:r>
              <a:rPr lang="en-US" altLang="zh-CN" b="0" dirty="0" smtClean="0"/>
              <a:t>File.</a:t>
            </a:r>
            <a:r>
              <a:rPr lang="zh-CN" altLang="en-US" b="0" dirty="0" smtClean="0"/>
              <a:t>getUsableSpace的大，因为包含了其他应用可移除缓存大小</a:t>
            </a:r>
            <a:endParaRPr lang="en-US" altLang="zh-CN" b="0" dirty="0" smtClean="0"/>
          </a:p>
          <a:p>
            <a:pPr algn="l"/>
            <a:endParaRPr lang="zh-CN" altLang="en-US" b="0" dirty="0"/>
          </a:p>
        </p:txBody>
      </p:sp>
      <p:sp>
        <p:nvSpPr>
          <p:cNvPr id="7" name="矩形 6"/>
          <p:cNvSpPr/>
          <p:nvPr/>
        </p:nvSpPr>
        <p:spPr>
          <a:xfrm>
            <a:off x="189704" y="2124471"/>
            <a:ext cx="3057525" cy="3219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0" dirty="0" smtClean="0"/>
              <a:t>2.Android </a:t>
            </a:r>
            <a:r>
              <a:rPr lang="zh-CN" altLang="en-US" b="0" dirty="0" smtClean="0"/>
              <a:t>接口StorageManager：</a:t>
            </a:r>
            <a:endParaRPr lang="zh-CN" altLang="en-US" b="0" dirty="0"/>
          </a:p>
        </p:txBody>
      </p:sp>
      <p:sp>
        <p:nvSpPr>
          <p:cNvPr id="9" name="矩形 8"/>
          <p:cNvSpPr/>
          <p:nvPr/>
        </p:nvSpPr>
        <p:spPr>
          <a:xfrm>
            <a:off x="188975" y="1025190"/>
            <a:ext cx="1135380" cy="3219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b="0" dirty="0"/>
              <a:t>两种方式：</a:t>
            </a:r>
            <a:endParaRPr lang="zh-CN" altLang="en-US" b="0" dirty="0"/>
          </a:p>
        </p:txBody>
      </p:sp>
      <p:sp>
        <p:nvSpPr>
          <p:cNvPr id="10" name="矩形 9"/>
          <p:cNvSpPr/>
          <p:nvPr/>
        </p:nvSpPr>
        <p:spPr>
          <a:xfrm>
            <a:off x="242839" y="1430465"/>
            <a:ext cx="1989455" cy="3219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0" dirty="0" smtClean="0"/>
              <a:t>1.Java</a:t>
            </a:r>
            <a:r>
              <a:rPr lang="zh-CN" altLang="en-US" b="0" dirty="0" smtClean="0"/>
              <a:t>原生接口</a:t>
            </a:r>
            <a:r>
              <a:rPr lang="en-US" altLang="zh-CN" b="0" dirty="0" smtClean="0"/>
              <a:t>File</a:t>
            </a:r>
            <a:r>
              <a:rPr lang="zh-CN" altLang="en-US" b="0" dirty="0" smtClean="0"/>
              <a:t>：</a:t>
            </a:r>
            <a:endParaRPr lang="zh-CN" altLang="en-US" b="0" dirty="0"/>
          </a:p>
        </p:txBody>
      </p:sp>
      <p:sp>
        <p:nvSpPr>
          <p:cNvPr id="11" name="矩形 10"/>
          <p:cNvSpPr/>
          <p:nvPr/>
        </p:nvSpPr>
        <p:spPr>
          <a:xfrm>
            <a:off x="304838" y="1801306"/>
            <a:ext cx="2835275" cy="3219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r>
              <a:rPr lang="zh-CN" altLang="en-US" dirty="0"/>
              <a:t>public long getUsableSpace()</a:t>
            </a:r>
            <a:endParaRPr lang="zh-CN" altLang="en-US" dirty="0"/>
          </a:p>
        </p:txBody>
      </p:sp>
      <p:sp>
        <p:nvSpPr>
          <p:cNvPr id="12" name="矩形 11"/>
          <p:cNvSpPr/>
          <p:nvPr/>
        </p:nvSpPr>
        <p:spPr>
          <a:xfrm>
            <a:off x="183431" y="3435239"/>
            <a:ext cx="10410484" cy="3219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zh-CN" altLang="en-US" b="0" dirty="0" smtClean="0"/>
              <a:t>利用</a:t>
            </a:r>
            <a:r>
              <a:rPr lang="en-US" altLang="zh-CN" b="0" dirty="0" err="1" smtClean="0"/>
              <a:t>StorageManager</a:t>
            </a:r>
            <a:r>
              <a:rPr lang="zh-CN" altLang="en-US" b="0" dirty="0" smtClean="0"/>
              <a:t>的接口</a:t>
            </a:r>
            <a:r>
              <a:rPr lang="en-US" altLang="zh-CN" b="0" dirty="0" smtClean="0"/>
              <a:t>:</a:t>
            </a:r>
            <a:endParaRPr lang="zh-CN" altLang="en-US" b="0" dirty="0"/>
          </a:p>
        </p:txBody>
      </p:sp>
      <p:sp>
        <p:nvSpPr>
          <p:cNvPr id="13" name="矩形 12"/>
          <p:cNvSpPr/>
          <p:nvPr/>
        </p:nvSpPr>
        <p:spPr>
          <a:xfrm>
            <a:off x="214108" y="3929667"/>
            <a:ext cx="7500257" cy="3219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zh-CN" altLang="en-US" dirty="0"/>
              <a:t>public void allocateBytes</a:t>
            </a:r>
            <a:r>
              <a:rPr lang="zh-CN" altLang="en-US" dirty="0" smtClean="0"/>
              <a:t>(UUID </a:t>
            </a:r>
            <a:r>
              <a:rPr lang="zh-CN" altLang="en-US" dirty="0"/>
              <a:t>storageUuid, </a:t>
            </a:r>
            <a:r>
              <a:rPr lang="zh-CN" altLang="en-US" dirty="0" smtClean="0"/>
              <a:t>long </a:t>
            </a:r>
            <a:r>
              <a:rPr lang="zh-CN" altLang="en-US" dirty="0"/>
              <a:t>bytes)</a:t>
            </a:r>
            <a:endParaRPr lang="zh-CN" altLang="en-US" dirty="0"/>
          </a:p>
        </p:txBody>
      </p:sp>
      <p:sp>
        <p:nvSpPr>
          <p:cNvPr id="14" name="矩形 13"/>
          <p:cNvSpPr/>
          <p:nvPr/>
        </p:nvSpPr>
        <p:spPr>
          <a:xfrm>
            <a:off x="214108" y="4486392"/>
            <a:ext cx="10410484" cy="553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zh-CN" altLang="en-US" b="0" dirty="0" smtClean="0"/>
              <a:t>这个调用会触发系统删除一些应用的缓存文件，所以可以申请到比</a:t>
            </a:r>
            <a:r>
              <a:rPr lang="en-US" altLang="zh-CN" b="0" dirty="0"/>
              <a:t>File.</a:t>
            </a:r>
            <a:r>
              <a:rPr lang="zh-CN" altLang="en-US" b="0" dirty="0" smtClean="0"/>
              <a:t>getUsableSpace大的可用空间，会比较耗时，尽可能少调用</a:t>
            </a:r>
            <a:endParaRPr lang="zh-CN" altLang="en-US" b="0" dirty="0"/>
          </a:p>
        </p:txBody>
      </p:sp>
      <p:sp>
        <p:nvSpPr>
          <p:cNvPr id="15" name="矩形 14"/>
          <p:cNvSpPr/>
          <p:nvPr/>
        </p:nvSpPr>
        <p:spPr>
          <a:xfrm>
            <a:off x="188975" y="5214380"/>
            <a:ext cx="1135380" cy="3219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b="0" dirty="0" smtClean="0"/>
              <a:t>示例代码：</a:t>
            </a:r>
            <a:endParaRPr lang="zh-CN" altLang="en-US" b="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编号占位符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2E6D20B-5538-E34D-91FE-E40835CF0C83}" type="slidenum">
              <a:rPr kumimoji="1" lang="zh-CN" altLang="en-US" smtClean="0">
                <a:latin typeface="SimHei" charset="-122"/>
                <a:ea typeface="SimHei" charset="-122"/>
                <a:cs typeface="SimHei" charset="-122"/>
              </a:rPr>
            </a:fld>
            <a:endParaRPr kumimoji="1" lang="zh-CN" altLang="en-US" dirty="0"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5" name="标题 2"/>
          <p:cNvSpPr>
            <a:spLocks noGrp="1"/>
          </p:cNvSpPr>
          <p:nvPr>
            <p:ph type="title" idx="4294967295"/>
          </p:nvPr>
        </p:nvSpPr>
        <p:spPr>
          <a:xfrm>
            <a:off x="0" y="344805"/>
            <a:ext cx="5443855" cy="264795"/>
          </a:xfrm>
        </p:spPr>
        <p:txBody>
          <a:bodyPr/>
          <a:lstStyle/>
          <a:p>
            <a:pPr defTabSz="531495" hangingPunct="1">
              <a:lnSpc>
                <a:spcPct val="120000"/>
              </a:lnSpc>
            </a:pPr>
            <a:r>
              <a:rPr kumimoji="1" lang="zh-CN" altLang="en-US" dirty="0" smtClean="0">
                <a:latin typeface="SimHei" charset="-122"/>
                <a:ea typeface="SimHei" charset="-122"/>
                <a:cs typeface="SimHei" charset="-122"/>
              </a:rPr>
              <a:t>相关</a:t>
            </a:r>
            <a:r>
              <a:rPr kumimoji="1" lang="en-US" altLang="zh-CN" dirty="0">
                <a:latin typeface="SimHei" charset="-122"/>
                <a:ea typeface="SimHei" charset="-122"/>
                <a:cs typeface="SimHei" charset="-122"/>
              </a:rPr>
              <a:t>API</a:t>
            </a:r>
            <a:r>
              <a:rPr kumimoji="1" lang="zh-CN" altLang="en-US" dirty="0">
                <a:latin typeface="SimHei" charset="-122"/>
                <a:ea typeface="SimHei" charset="-122"/>
                <a:cs typeface="SimHei" charset="-122"/>
              </a:rPr>
              <a:t>使用</a:t>
            </a:r>
            <a:endParaRPr kumimoji="1" lang="zh-CN" altLang="en-US" dirty="0"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247699" y="676322"/>
            <a:ext cx="1462405" cy="33718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600" dirty="0"/>
              <a:t>查询可用</a:t>
            </a:r>
            <a:r>
              <a:rPr lang="zh-CN" altLang="en-US" sz="1600" dirty="0" smtClean="0"/>
              <a:t>空间</a:t>
            </a:r>
            <a:r>
              <a:rPr lang="en-US" altLang="zh-CN" sz="1600" dirty="0" smtClean="0"/>
              <a:t>:</a:t>
            </a:r>
            <a:endParaRPr lang="zh-CN" altLang="en-US" dirty="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111" y="1251842"/>
            <a:ext cx="9312699" cy="47942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编号占位符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2E6D20B-5538-E34D-91FE-E40835CF0C83}" type="slidenum">
              <a:rPr kumimoji="1" lang="zh-CN" altLang="en-US" smtClean="0">
                <a:latin typeface="SimHei" charset="-122"/>
                <a:ea typeface="SimHei" charset="-122"/>
                <a:cs typeface="SimHei" charset="-122"/>
              </a:rPr>
            </a:fld>
            <a:endParaRPr kumimoji="1" lang="zh-CN" altLang="en-US" dirty="0"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5" name="标题 2"/>
          <p:cNvSpPr>
            <a:spLocks noGrp="1"/>
          </p:cNvSpPr>
          <p:nvPr>
            <p:ph type="title" idx="4294967295"/>
          </p:nvPr>
        </p:nvSpPr>
        <p:spPr>
          <a:xfrm>
            <a:off x="0" y="344805"/>
            <a:ext cx="5443855" cy="264795"/>
          </a:xfrm>
        </p:spPr>
        <p:txBody>
          <a:bodyPr/>
          <a:lstStyle/>
          <a:p>
            <a:pPr defTabSz="531495" hangingPunct="1">
              <a:lnSpc>
                <a:spcPct val="120000"/>
              </a:lnSpc>
            </a:pPr>
            <a:r>
              <a:rPr kumimoji="1" lang="zh-CN" altLang="en-US" dirty="0">
                <a:latin typeface="SimHei" charset="-122"/>
                <a:ea typeface="SimHei" charset="-122"/>
                <a:cs typeface="SimHei" charset="-122"/>
              </a:rPr>
              <a:t>相关</a:t>
            </a:r>
            <a:r>
              <a:rPr kumimoji="1" lang="en-US" altLang="zh-CN" dirty="0">
                <a:latin typeface="SimHei" charset="-122"/>
                <a:ea typeface="SimHei" charset="-122"/>
                <a:cs typeface="SimHei" charset="-122"/>
              </a:rPr>
              <a:t>API</a:t>
            </a:r>
            <a:r>
              <a:rPr kumimoji="1" lang="zh-CN" altLang="en-US" dirty="0">
                <a:latin typeface="SimHei" charset="-122"/>
                <a:ea typeface="SimHei" charset="-122"/>
                <a:cs typeface="SimHei" charset="-122"/>
              </a:rPr>
              <a:t>使用</a:t>
            </a:r>
            <a:endParaRPr kumimoji="1" lang="zh-CN" altLang="en-US" dirty="0"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317500" y="732850"/>
            <a:ext cx="10787036" cy="45231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zh-CN" altLang="en-US" sz="1600" dirty="0">
                <a:sym typeface="+mn-ea"/>
              </a:rPr>
              <a:t>文档以及其他文件</a:t>
            </a:r>
            <a:r>
              <a:rPr lang="en-US" altLang="zh-CN" sz="1600" dirty="0"/>
              <a:t>:</a:t>
            </a:r>
            <a:br>
              <a:rPr lang="en-US" altLang="zh-CN" sz="1600" dirty="0"/>
            </a:br>
            <a:br>
              <a:rPr lang="en-US" altLang="zh-CN" sz="1600" dirty="0"/>
            </a:br>
            <a:r>
              <a:rPr lang="zh-CN" altLang="en-US" sz="1600" b="0" dirty="0">
                <a:latin typeface="宋体" charset="0"/>
                <a:cs typeface="宋体" charset="0"/>
              </a:rPr>
              <a:t>通过存储访问框架</a:t>
            </a:r>
            <a:r>
              <a:rPr lang="en-US" altLang="zh-CN" sz="1600" b="0" dirty="0">
                <a:latin typeface="宋体" charset="0"/>
                <a:cs typeface="宋体" charset="0"/>
              </a:rPr>
              <a:t>(Storage Access Framework)</a:t>
            </a:r>
            <a:r>
              <a:rPr lang="zh-CN" altLang="en-US" sz="1600" b="0" dirty="0">
                <a:latin typeface="宋体" charset="0"/>
                <a:cs typeface="宋体" charset="0"/>
              </a:rPr>
              <a:t>操作，</a:t>
            </a:r>
            <a:r>
              <a:rPr lang="en-US" altLang="zh-CN" sz="1600" b="0" dirty="0">
                <a:latin typeface="宋体" charset="0"/>
                <a:cs typeface="宋体" charset="0"/>
              </a:rPr>
              <a:t>Android </a:t>
            </a:r>
            <a:r>
              <a:rPr lang="en-US" altLang="zh-CN" sz="1600" b="0" dirty="0" smtClean="0">
                <a:latin typeface="宋体" charset="0"/>
                <a:cs typeface="宋体" charset="0"/>
              </a:rPr>
              <a:t>4.4</a:t>
            </a:r>
            <a:r>
              <a:rPr lang="zh-CN" altLang="en-US" sz="1600" b="0" dirty="0" smtClean="0">
                <a:latin typeface="宋体" charset="0"/>
                <a:cs typeface="宋体" charset="0"/>
              </a:rPr>
              <a:t>就</a:t>
            </a:r>
            <a:r>
              <a:rPr lang="zh-CN" altLang="en-US" sz="1600" b="0" dirty="0">
                <a:latin typeface="宋体" charset="0"/>
                <a:cs typeface="宋体" charset="0"/>
              </a:rPr>
              <a:t>存在，不需要任何权限，利用以下几个</a:t>
            </a:r>
            <a:r>
              <a:rPr lang="en-US" altLang="zh-CN" sz="1600" b="0" dirty="0">
                <a:latin typeface="宋体" charset="0"/>
                <a:cs typeface="宋体" charset="0"/>
              </a:rPr>
              <a:t>Intent</a:t>
            </a:r>
            <a:r>
              <a:rPr lang="zh-CN" altLang="en-US" sz="1600" b="0" dirty="0">
                <a:latin typeface="宋体" charset="0"/>
                <a:cs typeface="宋体" charset="0"/>
              </a:rPr>
              <a:t>操作</a:t>
            </a:r>
            <a:endParaRPr lang="zh-CN" altLang="en-US" sz="1600" b="0" dirty="0">
              <a:latin typeface="宋体" charset="0"/>
              <a:cs typeface="宋体" charset="0"/>
            </a:endParaRPr>
          </a:p>
          <a:p>
            <a:pPr algn="l"/>
            <a:endParaRPr lang="zh-CN" altLang="en-US" sz="1600" b="0" dirty="0">
              <a:latin typeface="宋体" charset="0"/>
              <a:cs typeface="宋体" charset="0"/>
            </a:endParaRPr>
          </a:p>
          <a:p>
            <a:pPr algn="l"/>
            <a:r>
              <a:rPr lang="en-US" altLang="zh-CN" sz="1600" b="0" dirty="0">
                <a:latin typeface="宋体" charset="0"/>
                <a:cs typeface="宋体" charset="0"/>
              </a:rPr>
              <a:t>1.</a:t>
            </a:r>
            <a:r>
              <a:rPr lang="zh-CN" altLang="en-US" sz="1600" b="0" dirty="0">
                <a:latin typeface="宋体" charset="0"/>
                <a:cs typeface="宋体" charset="0"/>
              </a:rPr>
              <a:t>创建新文件</a:t>
            </a:r>
            <a:endParaRPr lang="zh-CN" altLang="en-US" sz="1600" b="0" dirty="0">
              <a:latin typeface="宋体" charset="0"/>
              <a:cs typeface="宋体" charset="0"/>
            </a:endParaRPr>
          </a:p>
          <a:p>
            <a:pPr algn="l"/>
            <a:endParaRPr lang="zh-CN" altLang="en-US" sz="1600" b="0" dirty="0">
              <a:latin typeface="宋体" charset="0"/>
              <a:cs typeface="宋体" charset="0"/>
            </a:endParaRPr>
          </a:p>
          <a:p>
            <a:pPr algn="l"/>
            <a:r>
              <a:rPr lang="en-US" altLang="zh-CN" sz="1600" b="0" dirty="0">
                <a:latin typeface="宋体" charset="0"/>
                <a:cs typeface="宋体" charset="0"/>
              </a:rPr>
              <a:t>ACTION_CREATE_DOCUMENT </a:t>
            </a:r>
            <a:r>
              <a:rPr lang="en-US" altLang="zh-CN" sz="1600" b="0" dirty="0" err="1">
                <a:latin typeface="宋体" charset="0"/>
                <a:cs typeface="宋体" charset="0"/>
              </a:rPr>
              <a:t>用户将文件保存在特定位置</a:t>
            </a:r>
            <a:endParaRPr lang="en-US" altLang="zh-CN" sz="1600" b="0" dirty="0">
              <a:latin typeface="宋体" charset="0"/>
              <a:cs typeface="宋体" charset="0"/>
            </a:endParaRPr>
          </a:p>
          <a:p>
            <a:pPr algn="l"/>
            <a:br>
              <a:rPr lang="en-US" altLang="zh-CN" sz="1600" b="0" dirty="0">
                <a:latin typeface="宋体" charset="0"/>
                <a:cs typeface="宋体" charset="0"/>
              </a:rPr>
            </a:br>
            <a:r>
              <a:rPr lang="en-US" altLang="zh-CN" sz="1600" b="0" dirty="0">
                <a:latin typeface="宋体" charset="0"/>
                <a:cs typeface="宋体" charset="0"/>
              </a:rPr>
              <a:t>2.打开文档或文件</a:t>
            </a:r>
            <a:br>
              <a:rPr lang="en-US" altLang="zh-CN" sz="1600" b="0" dirty="0">
                <a:latin typeface="宋体" charset="0"/>
                <a:cs typeface="宋体" charset="0"/>
              </a:rPr>
            </a:br>
            <a:r>
              <a:rPr lang="en-US" altLang="zh-CN" sz="1600" b="0" dirty="0">
                <a:latin typeface="宋体" charset="0"/>
                <a:cs typeface="宋体" charset="0"/>
              </a:rPr>
              <a:t>					</a:t>
            </a:r>
            <a:br>
              <a:rPr lang="en-US" altLang="zh-CN" sz="1600" b="0" dirty="0">
                <a:latin typeface="宋体" charset="0"/>
                <a:cs typeface="宋体" charset="0"/>
              </a:rPr>
            </a:br>
            <a:r>
              <a:rPr lang="en-US" altLang="zh-CN" sz="1600" b="0" dirty="0">
                <a:latin typeface="宋体" charset="0"/>
                <a:cs typeface="宋体" charset="0"/>
              </a:rPr>
              <a:t>ACTION_OPEN_DOCUMENT </a:t>
            </a:r>
            <a:r>
              <a:rPr lang="en-US" altLang="zh-CN" sz="1600" b="0" dirty="0" err="1">
                <a:latin typeface="宋体" charset="0"/>
                <a:cs typeface="宋体" charset="0"/>
              </a:rPr>
              <a:t>用户选择要打开的特定文档或文件</a:t>
            </a:r>
            <a:br>
              <a:rPr lang="en-US" altLang="zh-CN" sz="1600" b="0" dirty="0">
                <a:latin typeface="宋体" charset="0"/>
                <a:cs typeface="宋体" charset="0"/>
              </a:rPr>
            </a:br>
            <a:br>
              <a:rPr lang="en-US" altLang="zh-CN" sz="1600" b="0" dirty="0">
                <a:latin typeface="宋体" charset="0"/>
                <a:cs typeface="宋体" charset="0"/>
              </a:rPr>
            </a:br>
            <a:r>
              <a:rPr lang="en-US" altLang="zh-CN" sz="1600" b="0" dirty="0">
                <a:latin typeface="宋体" charset="0"/>
                <a:cs typeface="宋体" charset="0"/>
              </a:rPr>
              <a:t>3.授予对目录内容的访问权限</a:t>
            </a:r>
            <a:br>
              <a:rPr lang="en-US" altLang="zh-CN" sz="1600" b="0" dirty="0">
                <a:latin typeface="宋体" charset="0"/>
                <a:cs typeface="宋体" charset="0"/>
              </a:rPr>
            </a:br>
            <a:br>
              <a:rPr lang="en-US" altLang="zh-CN" sz="1600" b="0" dirty="0">
                <a:latin typeface="宋体" charset="0"/>
                <a:cs typeface="宋体" charset="0"/>
              </a:rPr>
            </a:br>
            <a:r>
              <a:rPr lang="en-US" altLang="zh-CN" sz="1600" b="0" dirty="0">
                <a:latin typeface="宋体" charset="0"/>
                <a:cs typeface="宋体" charset="0"/>
              </a:rPr>
              <a:t>ACTION_OPEN_DOCUMENT_TREE</a:t>
            </a:r>
            <a:br>
              <a:rPr lang="en-US" altLang="zh-CN" sz="1600" b="0" dirty="0">
                <a:latin typeface="宋体" charset="0"/>
                <a:cs typeface="宋体" charset="0"/>
              </a:rPr>
            </a:br>
            <a:br>
              <a:rPr lang="en-US" altLang="zh-CN" sz="1600" b="0" dirty="0">
                <a:latin typeface="宋体" charset="0"/>
                <a:cs typeface="宋体" charset="0"/>
              </a:rPr>
            </a:br>
            <a:r>
              <a:rPr lang="en-US" altLang="zh-CN" sz="1600" b="0" dirty="0" err="1">
                <a:latin typeface="宋体" charset="0"/>
                <a:cs typeface="宋体" charset="0"/>
              </a:rPr>
              <a:t>用户选择特定目录，授予应用对该目录中所有文件和子目录的访问权限</a:t>
            </a:r>
            <a:br>
              <a:rPr lang="zh-CN" altLang="en-US" sz="1600" b="0" dirty="0">
                <a:latin typeface="宋体" charset="0"/>
                <a:cs typeface="宋体" charset="0"/>
              </a:rPr>
            </a:br>
            <a:endParaRPr lang="zh-CN" altLang="en-US" sz="1600" b="0" dirty="0">
              <a:latin typeface="宋体" charset="0"/>
              <a:cs typeface="宋体" charset="0"/>
            </a:endParaRPr>
          </a:p>
        </p:txBody>
      </p:sp>
      <p:pic>
        <p:nvPicPr>
          <p:cNvPr id="6" name="图片 5" descr="device-2020-08-23-11355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9628" y="1693195"/>
            <a:ext cx="2619670" cy="465839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编号占位符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2E6D20B-5538-E34D-91FE-E40835CF0C83}" type="slidenum">
              <a:rPr kumimoji="1" lang="zh-CN" altLang="en-US" smtClean="0">
                <a:latin typeface="SimHei" charset="-122"/>
                <a:ea typeface="SimHei" charset="-122"/>
                <a:cs typeface="SimHei" charset="-122"/>
              </a:rPr>
            </a:fld>
            <a:endParaRPr kumimoji="1" lang="zh-CN" altLang="en-US" dirty="0"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5" name="标题 2"/>
          <p:cNvSpPr>
            <a:spLocks noGrp="1"/>
          </p:cNvSpPr>
          <p:nvPr>
            <p:ph type="title" idx="4294967295"/>
          </p:nvPr>
        </p:nvSpPr>
        <p:spPr>
          <a:xfrm>
            <a:off x="0" y="344805"/>
            <a:ext cx="5443855" cy="264795"/>
          </a:xfrm>
        </p:spPr>
        <p:txBody>
          <a:bodyPr/>
          <a:lstStyle/>
          <a:p>
            <a:pPr defTabSz="531495" hangingPunct="1">
              <a:lnSpc>
                <a:spcPct val="120000"/>
              </a:lnSpc>
            </a:pPr>
            <a:r>
              <a:rPr kumimoji="1" lang="zh-CN" altLang="en-US" dirty="0">
                <a:latin typeface="SimHei" charset="-122"/>
                <a:ea typeface="SimHei" charset="-122"/>
                <a:cs typeface="SimHei" charset="-122"/>
                <a:sym typeface="+mn-ea"/>
              </a:rPr>
              <a:t>核心实现原理</a:t>
            </a:r>
            <a:endParaRPr kumimoji="1" lang="zh-CN" altLang="en-US" dirty="0"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263000" y="750347"/>
            <a:ext cx="5767686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600" b="0" dirty="0">
                <a:latin typeface="宋体" charset="0"/>
                <a:cs typeface="宋体" charset="0"/>
              </a:rPr>
              <a:t>Android</a:t>
            </a:r>
            <a:r>
              <a:rPr lang="zh-CN" altLang="en-US" sz="1600" b="0" dirty="0">
                <a:latin typeface="宋体" charset="0"/>
                <a:cs typeface="宋体" charset="0"/>
              </a:rPr>
              <a:t>使用了两层权限控制来对文件或资源的限制访问</a:t>
            </a:r>
            <a:r>
              <a:rPr lang="en-US" altLang="zh-CN" sz="1600" b="0" dirty="0">
                <a:latin typeface="宋体" charset="0"/>
                <a:cs typeface="宋体" charset="0"/>
              </a:rPr>
              <a:t>:</a:t>
            </a:r>
            <a:r>
              <a:rPr lang="zh-CN" altLang="en-US" sz="1600" b="0" dirty="0">
                <a:latin typeface="宋体" charset="0"/>
                <a:cs typeface="宋体" charset="0"/>
              </a:rPr>
              <a:t> </a:t>
            </a:r>
            <a:endParaRPr lang="zh-CN" altLang="en-US" sz="1600" b="0" dirty="0">
              <a:latin typeface="宋体" charset="0"/>
              <a:cs typeface="宋体" charset="0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201" y="2054177"/>
            <a:ext cx="8153400" cy="1447800"/>
          </a:xfrm>
          <a:prstGeom prst="rect">
            <a:avLst/>
          </a:prstGeom>
        </p:spPr>
      </p:pic>
      <p:sp>
        <p:nvSpPr>
          <p:cNvPr id="6" name="矩形 5"/>
          <p:cNvSpPr/>
          <p:nvPr/>
        </p:nvSpPr>
        <p:spPr>
          <a:xfrm>
            <a:off x="515888" y="1173225"/>
            <a:ext cx="4912360" cy="3219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smtClean="0"/>
              <a:t>1.</a:t>
            </a:r>
            <a:r>
              <a:rPr lang="zh-CN" altLang="en-US" dirty="0" smtClean="0"/>
              <a:t>DAC </a:t>
            </a:r>
            <a:r>
              <a:rPr lang="zh-CN" altLang="en-US" dirty="0"/>
              <a:t>（Discretionary Access Control) 自主访问控制</a:t>
            </a:r>
            <a:endParaRPr lang="zh-CN" altLang="en-US" dirty="0"/>
          </a:p>
        </p:txBody>
      </p:sp>
      <p:sp>
        <p:nvSpPr>
          <p:cNvPr id="7" name="矩形 6"/>
          <p:cNvSpPr/>
          <p:nvPr/>
        </p:nvSpPr>
        <p:spPr>
          <a:xfrm>
            <a:off x="475230" y="1646688"/>
            <a:ext cx="10562884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zh-CN" altLang="en-US" sz="1600" b="0" dirty="0">
                <a:latin typeface="宋体" charset="0"/>
                <a:cs typeface="宋体" charset="0"/>
              </a:rPr>
              <a:t>即我们熟知的</a:t>
            </a:r>
            <a:r>
              <a:rPr lang="zh-CN" altLang="en-US" sz="1600" b="0" dirty="0" smtClean="0">
                <a:latin typeface="宋体" charset="0"/>
                <a:cs typeface="宋体" charset="0"/>
              </a:rPr>
              <a:t>Linux原生的</a:t>
            </a:r>
            <a:r>
              <a:rPr lang="zh-CN" altLang="en-US" sz="1600" b="0" dirty="0">
                <a:latin typeface="宋体" charset="0"/>
                <a:cs typeface="宋体" charset="0"/>
              </a:rPr>
              <a:t>权限访问控制</a:t>
            </a:r>
            <a:r>
              <a:rPr lang="zh-CN" altLang="en-US" sz="1600" b="0" dirty="0" smtClean="0">
                <a:latin typeface="宋体" charset="0"/>
                <a:cs typeface="宋体" charset="0"/>
              </a:rPr>
              <a:t>，由</a:t>
            </a:r>
            <a:r>
              <a:rPr lang="zh-CN" altLang="en-US" sz="1600" b="0" dirty="0" smtClean="0">
                <a:solidFill>
                  <a:srgbClr val="FF0000"/>
                </a:solidFill>
                <a:latin typeface="宋体" charset="0"/>
                <a:cs typeface="宋体" charset="0"/>
              </a:rPr>
              <a:t>资源本身定义权限控制</a:t>
            </a:r>
            <a:r>
              <a:rPr lang="zh-CN" altLang="en-US" sz="1600" b="0" dirty="0">
                <a:solidFill>
                  <a:srgbClr val="FF0000"/>
                </a:solidFill>
                <a:latin typeface="宋体" charset="0"/>
                <a:cs typeface="宋体" charset="0"/>
              </a:rPr>
              <a:t>规则</a:t>
            </a:r>
            <a:r>
              <a:rPr lang="zh-CN" altLang="en-US" sz="1600" b="0" dirty="0">
                <a:latin typeface="宋体" charset="0"/>
                <a:cs typeface="宋体" charset="0"/>
              </a:rPr>
              <a:t>，属主属组以及权限的控制</a:t>
            </a:r>
            <a:r>
              <a:rPr lang="zh-CN" altLang="en-US" sz="1600" b="0" dirty="0" smtClean="0">
                <a:latin typeface="宋体" charset="0"/>
                <a:cs typeface="宋体" charset="0"/>
              </a:rPr>
              <a:t>位：</a:t>
            </a:r>
            <a:endParaRPr lang="zh-CN" altLang="en-US" sz="1600" b="0" dirty="0">
              <a:latin typeface="宋体" charset="0"/>
              <a:cs typeface="宋体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444665" y="3668037"/>
            <a:ext cx="4573905" cy="3219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smtClean="0"/>
              <a:t>2.</a:t>
            </a:r>
            <a:r>
              <a:rPr lang="zh-CN" altLang="en-US" dirty="0" smtClean="0"/>
              <a:t>MAC </a:t>
            </a:r>
            <a:r>
              <a:rPr lang="zh-CN" altLang="en-US" dirty="0"/>
              <a:t>(Mandatory Access Control) 强制访问控制</a:t>
            </a:r>
            <a:endParaRPr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530363" y="4077169"/>
            <a:ext cx="9877085" cy="8299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zh-CN" altLang="en-US" sz="1600" b="0" dirty="0">
                <a:latin typeface="宋体" charset="0"/>
                <a:cs typeface="宋体" charset="0"/>
              </a:rPr>
              <a:t>在主体(如进程)访问客体(如文件)外部，定义相关的规则，规定哪一个主体可以访问哪一个客体，由</a:t>
            </a:r>
            <a:r>
              <a:rPr lang="zh-CN" altLang="en-US" sz="1600" b="0" u="sng" dirty="0">
                <a:latin typeface="宋体" charset="0"/>
                <a:cs typeface="宋体" charset="0"/>
              </a:rPr>
              <a:t>SELinux子系统</a:t>
            </a:r>
            <a:r>
              <a:rPr lang="zh-CN" altLang="en-US" sz="1600" b="0" dirty="0">
                <a:latin typeface="宋体" charset="0"/>
                <a:cs typeface="宋体" charset="0"/>
              </a:rPr>
              <a:t>提供</a:t>
            </a:r>
            <a:r>
              <a:rPr lang="zh-CN" altLang="en-US" sz="1600" b="0" dirty="0" smtClean="0">
                <a:latin typeface="宋体" charset="0"/>
                <a:cs typeface="宋体" charset="0"/>
              </a:rPr>
              <a:t>，Android</a:t>
            </a:r>
            <a:r>
              <a:rPr lang="zh-CN" altLang="en-US" sz="1600" b="0" dirty="0">
                <a:latin typeface="宋体" charset="0"/>
                <a:cs typeface="宋体" charset="0"/>
              </a:rPr>
              <a:t>定义了大量的规则，例如system/sepolicy/private/mediaprovider_app.te文件里面定义的：</a:t>
            </a:r>
            <a:endParaRPr lang="zh-CN" altLang="en-US" sz="1600" b="0" dirty="0">
              <a:latin typeface="宋体" charset="0"/>
              <a:cs typeface="宋体" charset="0"/>
            </a:endParaRPr>
          </a:p>
          <a:p>
            <a:pPr algn="l"/>
            <a:r>
              <a:rPr lang="zh-CN" altLang="en-US" sz="1600" b="0" dirty="0" smtClean="0">
                <a:latin typeface="宋体" charset="0"/>
                <a:cs typeface="宋体" charset="0"/>
              </a:rPr>
              <a:t>allow </a:t>
            </a:r>
            <a:r>
              <a:rPr lang="zh-CN" altLang="en-US" sz="1600" b="0" dirty="0">
                <a:latin typeface="宋体" charset="0"/>
                <a:cs typeface="宋体" charset="0"/>
              </a:rPr>
              <a:t>mediaprovider_app fuse_device:chr_file { read write ioctl getattr };</a:t>
            </a:r>
            <a:endParaRPr lang="zh-CN" altLang="en-US" sz="1600" b="0" dirty="0">
              <a:latin typeface="宋体" charset="0"/>
              <a:cs typeface="宋体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475230" y="5347684"/>
            <a:ext cx="10105684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zh-CN" altLang="en-US" sz="1600" b="0" dirty="0">
                <a:latin typeface="宋体" charset="0"/>
                <a:cs typeface="宋体" charset="0"/>
              </a:rPr>
              <a:t>进程对资源的</a:t>
            </a:r>
            <a:r>
              <a:rPr lang="zh-CN" altLang="en-US" sz="1600" b="0" dirty="0" smtClean="0">
                <a:latin typeface="宋体" charset="0"/>
                <a:cs typeface="宋体" charset="0"/>
              </a:rPr>
              <a:t>访问需要同时</a:t>
            </a:r>
            <a:r>
              <a:rPr lang="zh-CN" altLang="en-US" sz="1600" b="0" dirty="0">
                <a:latin typeface="宋体" charset="0"/>
                <a:cs typeface="宋体" charset="0"/>
              </a:rPr>
              <a:t>经过DAC和MAC检测才能够</a:t>
            </a:r>
            <a:r>
              <a:rPr lang="zh-CN" altLang="en-US" sz="1600" b="0" dirty="0" smtClean="0">
                <a:latin typeface="宋体" charset="0"/>
                <a:cs typeface="宋体" charset="0"/>
              </a:rPr>
              <a:t>访问，</a:t>
            </a:r>
            <a:r>
              <a:rPr lang="en-US" altLang="zh-CN" sz="1600" b="0" dirty="0" smtClean="0">
                <a:latin typeface="宋体" charset="0"/>
                <a:cs typeface="宋体" charset="0"/>
              </a:rPr>
              <a:t>MAC</a:t>
            </a:r>
            <a:r>
              <a:rPr lang="zh-CN" altLang="en-US" sz="1600" b="0" dirty="0" smtClean="0">
                <a:latin typeface="宋体" charset="0"/>
                <a:cs typeface="宋体" charset="0"/>
              </a:rPr>
              <a:t>可以看着是</a:t>
            </a:r>
            <a:r>
              <a:rPr lang="en-US" altLang="zh-CN" sz="1600" b="0" dirty="0" smtClean="0">
                <a:latin typeface="宋体" charset="0"/>
                <a:cs typeface="宋体" charset="0"/>
              </a:rPr>
              <a:t>DAC</a:t>
            </a:r>
            <a:r>
              <a:rPr lang="zh-CN" altLang="en-US" sz="1600" b="0" dirty="0" smtClean="0">
                <a:latin typeface="宋体" charset="0"/>
                <a:cs typeface="宋体" charset="0"/>
              </a:rPr>
              <a:t>的补充，MAC</a:t>
            </a:r>
            <a:r>
              <a:rPr lang="zh-CN" altLang="en-US" sz="1600" b="0" dirty="0">
                <a:latin typeface="宋体" charset="0"/>
                <a:cs typeface="宋体" charset="0"/>
              </a:rPr>
              <a:t>的控制较DAC为复杂，我们</a:t>
            </a:r>
            <a:r>
              <a:rPr lang="zh-CN" altLang="en-US" sz="1600" b="0" dirty="0">
                <a:solidFill>
                  <a:srgbClr val="FF0000"/>
                </a:solidFill>
                <a:latin typeface="宋体" charset="0"/>
                <a:cs typeface="宋体" charset="0"/>
              </a:rPr>
              <a:t>只讨论DAC权限控制</a:t>
            </a:r>
            <a:r>
              <a:rPr lang="zh-CN" altLang="en-US" sz="1600" b="0" dirty="0">
                <a:latin typeface="宋体" charset="0"/>
                <a:cs typeface="宋体" charset="0"/>
              </a:rPr>
              <a:t>，不影响我们理解分区存储是如何实现的</a:t>
            </a:r>
            <a:endParaRPr lang="zh-CN" altLang="en-US" sz="1600" b="0" dirty="0">
              <a:latin typeface="宋体" charset="0"/>
              <a:cs typeface="宋体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编号占位符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2E6D20B-5538-E34D-91FE-E40835CF0C83}" type="slidenum">
              <a:rPr kumimoji="1" lang="zh-CN" altLang="en-US" smtClean="0">
                <a:latin typeface="SimHei" charset="-122"/>
                <a:ea typeface="SimHei" charset="-122"/>
                <a:cs typeface="SimHei" charset="-122"/>
              </a:rPr>
            </a:fld>
            <a:endParaRPr kumimoji="1" lang="zh-CN" altLang="en-US" dirty="0"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5" name="标题 2"/>
          <p:cNvSpPr>
            <a:spLocks noGrp="1"/>
          </p:cNvSpPr>
          <p:nvPr>
            <p:ph type="title" idx="4294967295"/>
          </p:nvPr>
        </p:nvSpPr>
        <p:spPr>
          <a:xfrm>
            <a:off x="0" y="300355"/>
            <a:ext cx="5443220" cy="265430"/>
          </a:xfrm>
        </p:spPr>
        <p:txBody>
          <a:bodyPr/>
          <a:lstStyle/>
          <a:p>
            <a:pPr defTabSz="531495" hangingPunct="1">
              <a:lnSpc>
                <a:spcPct val="120000"/>
              </a:lnSpc>
            </a:pPr>
            <a:r>
              <a:rPr kumimoji="1" lang="zh-CN" altLang="en-US" dirty="0">
                <a:latin typeface="SimHei" charset="-122"/>
                <a:ea typeface="SimHei" charset="-122"/>
                <a:cs typeface="SimHei" charset="-122"/>
                <a:sym typeface="+mn-ea"/>
              </a:rPr>
              <a:t>核心实现原理</a:t>
            </a:r>
            <a:endParaRPr kumimoji="1" lang="zh-CN" altLang="en-US" dirty="0"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423298" y="761563"/>
            <a:ext cx="6129901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zh-CN" altLang="en-US" sz="1600" dirty="0" smtClean="0"/>
              <a:t>应用存储数据目录</a:t>
            </a:r>
            <a:r>
              <a:rPr lang="zh-CN" altLang="en-US" sz="1600" dirty="0"/>
              <a:t>安全性的</a:t>
            </a:r>
            <a:r>
              <a:rPr lang="zh-CN" altLang="en-US" sz="1600" dirty="0" smtClean="0"/>
              <a:t>实现：</a:t>
            </a:r>
            <a:endParaRPr lang="zh-CN" altLang="en-US" dirty="0"/>
          </a:p>
        </p:txBody>
      </p:sp>
      <p:sp>
        <p:nvSpPr>
          <p:cNvPr id="7" name="矩形 6"/>
          <p:cNvSpPr/>
          <p:nvPr/>
        </p:nvSpPr>
        <p:spPr>
          <a:xfrm>
            <a:off x="1426739" y="1252079"/>
            <a:ext cx="1229360" cy="609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APK</a:t>
            </a:r>
            <a:endParaRPr lang="en-US" altLang="zh-CN" dirty="0" smtClean="0"/>
          </a:p>
          <a:p>
            <a:pPr algn="ctr"/>
            <a:r>
              <a:rPr lang="en-US" altLang="zh-CN" dirty="0" err="1" smtClean="0"/>
              <a:t>uid</a:t>
            </a:r>
            <a:r>
              <a:rPr lang="en-US" altLang="zh-CN" dirty="0" smtClean="0"/>
              <a:t>/</a:t>
            </a:r>
            <a:r>
              <a:rPr lang="en-US" altLang="zh-CN" dirty="0" err="1" smtClean="0"/>
              <a:t>gid</a:t>
            </a:r>
            <a:endParaRPr lang="zh-CN" altLang="en-US" dirty="0"/>
          </a:p>
        </p:txBody>
      </p:sp>
      <p:sp>
        <p:nvSpPr>
          <p:cNvPr id="8" name="圆角矩形 7"/>
          <p:cNvSpPr/>
          <p:nvPr/>
        </p:nvSpPr>
        <p:spPr>
          <a:xfrm>
            <a:off x="412009" y="3426954"/>
            <a:ext cx="3257550" cy="1189355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/>
          </a:p>
          <a:p>
            <a:pPr algn="ctr"/>
            <a:endParaRPr lang="en-US" altLang="zh-CN"/>
          </a:p>
          <a:p>
            <a:pPr algn="ctr"/>
            <a:r>
              <a:rPr lang="en-US" altLang="zh-CN"/>
              <a:t>SystemServer</a:t>
            </a:r>
            <a:endParaRPr lang="en-US" altLang="zh-CN"/>
          </a:p>
        </p:txBody>
      </p:sp>
      <p:sp>
        <p:nvSpPr>
          <p:cNvPr id="9" name="圆角矩形 8"/>
          <p:cNvSpPr/>
          <p:nvPr/>
        </p:nvSpPr>
        <p:spPr>
          <a:xfrm>
            <a:off x="462174" y="3536809"/>
            <a:ext cx="3157855" cy="469900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PackageManagerService</a:t>
            </a:r>
            <a:endParaRPr lang="en-US" altLang="zh-CN"/>
          </a:p>
        </p:txBody>
      </p:sp>
      <p:cxnSp>
        <p:nvCxnSpPr>
          <p:cNvPr id="10" name="直接箭头连接符 9"/>
          <p:cNvCxnSpPr>
            <a:stCxn id="7" idx="2"/>
          </p:cNvCxnSpPr>
          <p:nvPr/>
        </p:nvCxnSpPr>
        <p:spPr>
          <a:xfrm flipH="1">
            <a:off x="2029989" y="1861679"/>
            <a:ext cx="11430" cy="166878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圆角矩形 10"/>
          <p:cNvSpPr/>
          <p:nvPr/>
        </p:nvSpPr>
        <p:spPr>
          <a:xfrm>
            <a:off x="4337131" y="3502550"/>
            <a:ext cx="1261110" cy="549910"/>
          </a:xfrm>
          <a:prstGeom prst="round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installd</a:t>
            </a:r>
            <a:endParaRPr lang="en-US" altLang="zh-CN"/>
          </a:p>
        </p:txBody>
      </p:sp>
      <p:cxnSp>
        <p:nvCxnSpPr>
          <p:cNvPr id="13" name="直接箭头连接符 12"/>
          <p:cNvCxnSpPr>
            <a:stCxn id="9" idx="3"/>
            <a:endCxn id="11" idx="1"/>
          </p:cNvCxnSpPr>
          <p:nvPr/>
        </p:nvCxnSpPr>
        <p:spPr>
          <a:xfrm>
            <a:off x="3620029" y="3771759"/>
            <a:ext cx="717102" cy="574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/>
          <p:cNvSpPr txBox="1"/>
          <p:nvPr/>
        </p:nvSpPr>
        <p:spPr>
          <a:xfrm>
            <a:off x="423299" y="2512611"/>
            <a:ext cx="1701579" cy="252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b="0" dirty="0" smtClean="0"/>
              <a:t>1.</a:t>
            </a:r>
            <a:r>
              <a:rPr lang="zh-CN" altLang="en-US" sz="1050" b="0" dirty="0" smtClean="0"/>
              <a:t>应用安装分配</a:t>
            </a:r>
            <a:r>
              <a:rPr lang="en-US" altLang="zh-CN" sz="1050" b="0" dirty="0" err="1" smtClean="0"/>
              <a:t>gid</a:t>
            </a:r>
            <a:r>
              <a:rPr lang="en-US" altLang="zh-CN" sz="1050" b="0" dirty="0" smtClean="0"/>
              <a:t>/</a:t>
            </a:r>
            <a:r>
              <a:rPr lang="en-US" altLang="zh-CN" sz="1050" b="0" dirty="0" err="1" smtClean="0"/>
              <a:t>uid</a:t>
            </a:r>
            <a:endParaRPr lang="zh-CN" altLang="en-US" sz="1050" b="0" dirty="0"/>
          </a:p>
        </p:txBody>
      </p:sp>
      <p:cxnSp>
        <p:nvCxnSpPr>
          <p:cNvPr id="16" name="直接箭头连接符 15"/>
          <p:cNvCxnSpPr>
            <a:endCxn id="23" idx="2"/>
          </p:cNvCxnSpPr>
          <p:nvPr/>
        </p:nvCxnSpPr>
        <p:spPr>
          <a:xfrm flipV="1">
            <a:off x="5598241" y="2597156"/>
            <a:ext cx="1733009" cy="11830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/>
          <p:cNvSpPr txBox="1"/>
          <p:nvPr/>
        </p:nvSpPr>
        <p:spPr>
          <a:xfrm>
            <a:off x="6300031" y="3020108"/>
            <a:ext cx="2275990" cy="252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b="0" dirty="0"/>
              <a:t>2</a:t>
            </a:r>
            <a:r>
              <a:rPr lang="en-US" altLang="zh-CN" sz="1050" b="0" dirty="0" smtClean="0"/>
              <a:t>.</a:t>
            </a:r>
            <a:r>
              <a:rPr lang="zh-CN" altLang="en-US" sz="1050" b="0" dirty="0" smtClean="0"/>
              <a:t>创建对应</a:t>
            </a:r>
            <a:r>
              <a:rPr lang="en-US" altLang="zh-CN" sz="1050" b="0" dirty="0" err="1" smtClean="0"/>
              <a:t>gid</a:t>
            </a:r>
            <a:r>
              <a:rPr lang="en-US" altLang="zh-CN" sz="1050" b="0" dirty="0" smtClean="0"/>
              <a:t>/</a:t>
            </a:r>
            <a:r>
              <a:rPr lang="en-US" altLang="zh-CN" sz="1050" b="0" dirty="0" err="1" smtClean="0"/>
              <a:t>uid</a:t>
            </a:r>
            <a:r>
              <a:rPr lang="zh-CN" altLang="en-US" sz="1050" b="0" dirty="0" smtClean="0"/>
              <a:t>的数据目录</a:t>
            </a:r>
            <a:endParaRPr lang="zh-CN" altLang="en-US" sz="1050" b="0" dirty="0"/>
          </a:p>
        </p:txBody>
      </p:sp>
      <p:pic>
        <p:nvPicPr>
          <p:cNvPr id="19" name="图片 18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666" y="4900836"/>
            <a:ext cx="9201150" cy="476250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8580" y="4900836"/>
            <a:ext cx="6918892" cy="1435141"/>
          </a:xfrm>
          <a:prstGeom prst="rect">
            <a:avLst/>
          </a:prstGeom>
        </p:spPr>
      </p:pic>
      <p:cxnSp>
        <p:nvCxnSpPr>
          <p:cNvPr id="20" name="直接箭头连接符 19"/>
          <p:cNvCxnSpPr>
            <a:stCxn id="11" idx="2"/>
            <a:endCxn id="14" idx="0"/>
          </p:cNvCxnSpPr>
          <p:nvPr/>
        </p:nvCxnSpPr>
        <p:spPr>
          <a:xfrm>
            <a:off x="4967686" y="4052460"/>
            <a:ext cx="2470340" cy="8483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/>
          <p:cNvSpPr txBox="1"/>
          <p:nvPr/>
        </p:nvSpPr>
        <p:spPr>
          <a:xfrm>
            <a:off x="5742838" y="4173327"/>
            <a:ext cx="4914276" cy="252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b="0" dirty="0" smtClean="0"/>
              <a:t>3.</a:t>
            </a:r>
            <a:r>
              <a:rPr lang="zh-CN" altLang="en-US" sz="1050" b="0" dirty="0" smtClean="0"/>
              <a:t>创建对应</a:t>
            </a:r>
            <a:r>
              <a:rPr lang="en-US" altLang="zh-CN" sz="1050" b="0" dirty="0" err="1" smtClean="0"/>
              <a:t>gid</a:t>
            </a:r>
            <a:r>
              <a:rPr lang="en-US" altLang="zh-CN" sz="1050" b="0" dirty="0" smtClean="0"/>
              <a:t>/</a:t>
            </a:r>
            <a:r>
              <a:rPr lang="en-US" altLang="zh-CN" sz="1050" b="0" dirty="0" err="1" smtClean="0"/>
              <a:t>uid</a:t>
            </a:r>
            <a:r>
              <a:rPr lang="zh-CN" altLang="en-US" sz="1050" b="0" dirty="0" smtClean="0"/>
              <a:t>的数据目录，</a:t>
            </a:r>
            <a:r>
              <a:rPr lang="en-US" altLang="zh-CN" sz="1050" b="0" dirty="0" err="1" smtClean="0"/>
              <a:t>sdcard_rw</a:t>
            </a:r>
            <a:r>
              <a:rPr lang="zh-CN" altLang="en-US" sz="1050" b="0" dirty="0" smtClean="0"/>
              <a:t>一般应用不数据这个组</a:t>
            </a:r>
            <a:endParaRPr lang="zh-CN" altLang="en-US" sz="1050" b="0" dirty="0"/>
          </a:p>
        </p:txBody>
      </p:sp>
      <p:pic>
        <p:nvPicPr>
          <p:cNvPr id="23" name="图片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7702" y="1113932"/>
            <a:ext cx="8387095" cy="14832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8" grpId="0"/>
      <p:bldP spid="2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编号占位符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2E6D20B-5538-E34D-91FE-E40835CF0C83}" type="slidenum">
              <a:rPr kumimoji="1" lang="zh-CN" altLang="en-US" smtClean="0">
                <a:latin typeface="SimHei" charset="-122"/>
                <a:ea typeface="SimHei" charset="-122"/>
                <a:cs typeface="SimHei" charset="-122"/>
              </a:rPr>
            </a:fld>
            <a:endParaRPr kumimoji="1" lang="zh-CN" altLang="en-US" dirty="0"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5" name="标题 2"/>
          <p:cNvSpPr>
            <a:spLocks noGrp="1"/>
          </p:cNvSpPr>
          <p:nvPr>
            <p:ph type="title" idx="4294967295"/>
          </p:nvPr>
        </p:nvSpPr>
        <p:spPr>
          <a:xfrm>
            <a:off x="0" y="344805"/>
            <a:ext cx="5443855" cy="264795"/>
          </a:xfrm>
        </p:spPr>
        <p:txBody>
          <a:bodyPr/>
          <a:lstStyle/>
          <a:p>
            <a:pPr defTabSz="531495" hangingPunct="1">
              <a:lnSpc>
                <a:spcPct val="120000"/>
              </a:lnSpc>
            </a:pPr>
            <a:r>
              <a:rPr kumimoji="1" lang="zh-CN" altLang="en-US" dirty="0">
                <a:latin typeface="SimHei" charset="-122"/>
                <a:ea typeface="SimHei" charset="-122"/>
                <a:cs typeface="SimHei" charset="-122"/>
                <a:sym typeface="+mn-ea"/>
              </a:rPr>
              <a:t>核心实现原理</a:t>
            </a:r>
            <a:endParaRPr kumimoji="1" lang="zh-CN" altLang="en-US" dirty="0"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317501" y="609601"/>
            <a:ext cx="2017395" cy="33718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r>
              <a:rPr lang="zh-CN" altLang="en-US" sz="1600" dirty="0" smtClean="0"/>
              <a:t>访问媒体文件实现：</a:t>
            </a:r>
            <a:endParaRPr lang="zh-CN" altLang="en-US" sz="1600" dirty="0"/>
          </a:p>
        </p:txBody>
      </p:sp>
      <p:sp>
        <p:nvSpPr>
          <p:cNvPr id="7" name="文本框 6"/>
          <p:cNvSpPr txBox="1"/>
          <p:nvPr/>
        </p:nvSpPr>
        <p:spPr>
          <a:xfrm>
            <a:off x="590346" y="1634547"/>
            <a:ext cx="10142968" cy="1322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600" b="0" dirty="0" smtClean="0">
                <a:latin typeface="宋体" charset="0"/>
                <a:cs typeface="宋体" charset="0"/>
              </a:rPr>
              <a:t>通过</a:t>
            </a:r>
            <a:r>
              <a:rPr lang="en-US" altLang="zh-CN" sz="1600" b="0" dirty="0" err="1" smtClean="0">
                <a:latin typeface="宋体" charset="0"/>
                <a:cs typeface="宋体" charset="0"/>
              </a:rPr>
              <a:t>ContentProvider</a:t>
            </a:r>
            <a:r>
              <a:rPr lang="zh-CN" altLang="en-US" sz="1600" b="0" dirty="0" smtClean="0">
                <a:latin typeface="宋体" charset="0"/>
                <a:cs typeface="宋体" charset="0"/>
              </a:rPr>
              <a:t>访问，</a:t>
            </a:r>
            <a:r>
              <a:rPr lang="en-US" altLang="zh-CN" sz="1600" b="0" dirty="0" smtClean="0">
                <a:latin typeface="宋体" charset="0"/>
                <a:cs typeface="宋体" charset="0"/>
              </a:rPr>
              <a:t>Android R</a:t>
            </a:r>
            <a:r>
              <a:rPr lang="zh-CN" altLang="en-US" sz="1600" b="0" dirty="0" smtClean="0">
                <a:latin typeface="宋体" charset="0"/>
                <a:cs typeface="宋体" charset="0"/>
              </a:rPr>
              <a:t>上的</a:t>
            </a:r>
            <a:r>
              <a:rPr lang="en-US" altLang="zh-CN" sz="1600" b="0" dirty="0" err="1" smtClean="0">
                <a:latin typeface="宋体" charset="0"/>
                <a:cs typeface="宋体" charset="0"/>
              </a:rPr>
              <a:t>MediaProvider</a:t>
            </a:r>
            <a:r>
              <a:rPr lang="zh-CN" altLang="en-US" sz="1600" b="0" dirty="0" smtClean="0">
                <a:latin typeface="宋体" charset="0"/>
                <a:cs typeface="宋体" charset="0"/>
              </a:rPr>
              <a:t>已经替换成</a:t>
            </a:r>
            <a:r>
              <a:rPr lang="en-US" altLang="zh-CN" sz="1600" b="0" dirty="0" smtClean="0">
                <a:latin typeface="宋体" charset="0"/>
                <a:cs typeface="宋体" charset="0"/>
              </a:rPr>
              <a:t>google</a:t>
            </a:r>
            <a:r>
              <a:rPr lang="zh-CN" altLang="en-US" sz="1600" b="0" dirty="0" smtClean="0">
                <a:latin typeface="宋体" charset="0"/>
                <a:cs typeface="宋体" charset="0"/>
              </a:rPr>
              <a:t>提供的</a:t>
            </a:r>
            <a:r>
              <a:rPr lang="en-US" altLang="zh-CN" sz="1600" b="0" dirty="0" smtClean="0">
                <a:latin typeface="宋体" charset="0"/>
                <a:cs typeface="宋体" charset="0"/>
              </a:rPr>
              <a:t>APK</a:t>
            </a:r>
            <a:r>
              <a:rPr lang="zh-CN" altLang="en-US" sz="1600" b="0" dirty="0" smtClean="0">
                <a:latin typeface="宋体" charset="0"/>
                <a:cs typeface="宋体" charset="0"/>
              </a:rPr>
              <a:t>，意味着不再允许厂商对这部分内容进行修改。</a:t>
            </a:r>
            <a:endParaRPr lang="en-US" altLang="zh-CN" sz="1600" b="0" dirty="0" smtClean="0">
              <a:latin typeface="宋体" charset="0"/>
              <a:cs typeface="宋体" charset="0"/>
            </a:endParaRPr>
          </a:p>
          <a:p>
            <a:pPr algn="l"/>
            <a:endParaRPr lang="en-US" altLang="zh-CN" sz="1600" b="0" dirty="0" smtClean="0">
              <a:latin typeface="宋体" charset="0"/>
              <a:cs typeface="宋体" charset="0"/>
            </a:endParaRPr>
          </a:p>
          <a:p>
            <a:pPr algn="l"/>
            <a:r>
              <a:rPr lang="zh-CN" altLang="en-US" sz="1600" b="0" dirty="0" smtClean="0">
                <a:latin typeface="宋体" charset="0"/>
                <a:cs typeface="宋体" charset="0"/>
              </a:rPr>
              <a:t>该</a:t>
            </a:r>
            <a:r>
              <a:rPr lang="en-US" altLang="zh-CN" sz="1600" b="0" dirty="0" smtClean="0">
                <a:latin typeface="宋体" charset="0"/>
                <a:cs typeface="宋体" charset="0"/>
              </a:rPr>
              <a:t>Provider</a:t>
            </a:r>
            <a:r>
              <a:rPr lang="zh-CN" altLang="en-US" sz="1600" b="0" dirty="0" smtClean="0">
                <a:latin typeface="宋体" charset="0"/>
                <a:cs typeface="宋体" charset="0"/>
              </a:rPr>
              <a:t>集成了对外部存储</a:t>
            </a:r>
            <a:r>
              <a:rPr lang="en-US" altLang="zh-CN" sz="1600" b="0" dirty="0" smtClean="0">
                <a:latin typeface="宋体" charset="0"/>
                <a:cs typeface="宋体" charset="0"/>
              </a:rPr>
              <a:t>FUSE</a:t>
            </a:r>
            <a:r>
              <a:rPr lang="en-US" altLang="zh-CN" sz="1600" b="0" dirty="0">
                <a:latin typeface="宋体" charset="0"/>
                <a:cs typeface="宋体" charset="0"/>
              </a:rPr>
              <a:t> </a:t>
            </a:r>
            <a:r>
              <a:rPr lang="en-US" altLang="zh-CN" sz="1600" b="0" dirty="0" smtClean="0">
                <a:latin typeface="宋体" charset="0"/>
                <a:cs typeface="宋体" charset="0"/>
              </a:rPr>
              <a:t>(File User Space</a:t>
            </a:r>
            <a:r>
              <a:rPr lang="zh-CN" altLang="en-US" sz="1600" b="0" dirty="0" smtClean="0">
                <a:latin typeface="宋体" charset="0"/>
                <a:cs typeface="宋体" charset="0"/>
              </a:rPr>
              <a:t>用户</a:t>
            </a:r>
            <a:r>
              <a:rPr lang="zh-CN" altLang="en-US" sz="1600" b="0" dirty="0">
                <a:latin typeface="宋体" charset="0"/>
                <a:cs typeface="宋体" charset="0"/>
              </a:rPr>
              <a:t>空间的文件系统</a:t>
            </a:r>
            <a:r>
              <a:rPr lang="en-US" altLang="zh-CN" sz="1600" b="0" dirty="0">
                <a:latin typeface="宋体" charset="0"/>
                <a:cs typeface="宋体" charset="0"/>
              </a:rPr>
              <a:t>)</a:t>
            </a:r>
            <a:r>
              <a:rPr lang="zh-CN" altLang="en-US" sz="1600" b="0" dirty="0" smtClean="0">
                <a:latin typeface="宋体" charset="0"/>
                <a:cs typeface="宋体" charset="0"/>
              </a:rPr>
              <a:t>实现，意味着即使使用</a:t>
            </a:r>
            <a:r>
              <a:rPr lang="en-US" altLang="zh-CN" sz="1600" b="0" dirty="0" smtClean="0">
                <a:latin typeface="宋体" charset="0"/>
                <a:cs typeface="宋体" charset="0"/>
              </a:rPr>
              <a:t>Java File API</a:t>
            </a:r>
            <a:r>
              <a:rPr lang="zh-CN" altLang="en-US" sz="1600" b="0" dirty="0" smtClean="0">
                <a:latin typeface="宋体" charset="0"/>
                <a:cs typeface="宋体" charset="0"/>
              </a:rPr>
              <a:t>对媒体文件的访问，也收到了该</a:t>
            </a:r>
            <a:r>
              <a:rPr lang="en-US" altLang="zh-CN" sz="1600" b="0" dirty="0" smtClean="0">
                <a:latin typeface="宋体" charset="0"/>
                <a:cs typeface="宋体" charset="0"/>
              </a:rPr>
              <a:t>Provider</a:t>
            </a:r>
            <a:r>
              <a:rPr lang="zh-CN" altLang="en-US" sz="1600" b="0" dirty="0" smtClean="0">
                <a:latin typeface="宋体" charset="0"/>
                <a:cs typeface="宋体" charset="0"/>
              </a:rPr>
              <a:t>的控制，内容较多，不再展开。</a:t>
            </a:r>
            <a:endParaRPr lang="zh-CN" altLang="en-US" sz="1600" b="0" dirty="0">
              <a:latin typeface="宋体" charset="0"/>
              <a:cs typeface="宋体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426358" y="1222101"/>
            <a:ext cx="5759450" cy="306705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/>
            <a:r>
              <a:rPr lang="zh-CN" altLang="en-US" sz="1400" dirty="0">
                <a:latin typeface="宋体" charset="0"/>
                <a:cs typeface="宋体" charset="0"/>
              </a:rPr>
              <a:t>文件的元</a:t>
            </a:r>
            <a:r>
              <a:rPr lang="zh-CN" altLang="en-US" sz="1400" dirty="0" smtClean="0">
                <a:latin typeface="宋体" charset="0"/>
                <a:cs typeface="宋体" charset="0"/>
              </a:rPr>
              <a:t>信息：</a:t>
            </a:r>
            <a:endParaRPr lang="zh-CN" altLang="en-US" sz="1400" dirty="0">
              <a:latin typeface="宋体" charset="0"/>
              <a:cs typeface="宋体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426358" y="3708172"/>
            <a:ext cx="998220" cy="33718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r>
              <a:rPr lang="zh-CN" altLang="en-US" sz="1600" dirty="0">
                <a:latin typeface="宋体" charset="0"/>
                <a:cs typeface="宋体" charset="0"/>
              </a:rPr>
              <a:t>文件内容</a:t>
            </a:r>
            <a:endParaRPr lang="zh-CN" altLang="en-US" sz="1600" dirty="0">
              <a:latin typeface="宋体" charset="0"/>
              <a:cs typeface="宋体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0346" y="2933577"/>
            <a:ext cx="10395857" cy="434903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590346" y="4124930"/>
            <a:ext cx="10142968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600" b="0" dirty="0" smtClean="0">
                <a:latin typeface="宋体" charset="0"/>
                <a:cs typeface="宋体" charset="0"/>
              </a:rPr>
              <a:t>通过</a:t>
            </a:r>
            <a:r>
              <a:rPr lang="en-US" altLang="zh-CN" sz="1600" b="0" dirty="0" err="1" smtClean="0">
                <a:latin typeface="宋体" charset="0"/>
                <a:cs typeface="宋体" charset="0"/>
              </a:rPr>
              <a:t>ContentProvider</a:t>
            </a:r>
            <a:r>
              <a:rPr lang="zh-CN" altLang="en-US" sz="1600" b="0" dirty="0" smtClean="0">
                <a:latin typeface="宋体" charset="0"/>
                <a:cs typeface="宋体" charset="0"/>
              </a:rPr>
              <a:t>的接口：</a:t>
            </a:r>
            <a:endParaRPr lang="zh-CN" altLang="en-US" sz="1600" b="0" dirty="0">
              <a:latin typeface="宋体" charset="0"/>
              <a:cs typeface="宋体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590346" y="4619892"/>
            <a:ext cx="9137876" cy="3219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zh-CN" altLang="en-US" dirty="0"/>
              <a:t> public @Nullable ParcelFileDescriptor openFile</a:t>
            </a:r>
            <a:r>
              <a:rPr lang="zh-CN" altLang="en-US" dirty="0" smtClean="0"/>
              <a:t>(@NonNull Uri </a:t>
            </a:r>
            <a:r>
              <a:rPr lang="zh-CN" altLang="en-US" dirty="0"/>
              <a:t>uri, @NonNull String mode)</a:t>
            </a:r>
            <a:endParaRPr lang="zh-CN" altLang="en-US" dirty="0"/>
          </a:p>
        </p:txBody>
      </p:sp>
      <p:sp>
        <p:nvSpPr>
          <p:cNvPr id="12" name="文本框 11"/>
          <p:cNvSpPr txBox="1"/>
          <p:nvPr/>
        </p:nvSpPr>
        <p:spPr>
          <a:xfrm>
            <a:off x="689555" y="5093380"/>
            <a:ext cx="10142968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600" b="0" dirty="0" smtClean="0">
                <a:latin typeface="宋体" charset="0"/>
                <a:cs typeface="宋体" charset="0"/>
              </a:rPr>
              <a:t>本质是通过</a:t>
            </a:r>
            <a:r>
              <a:rPr lang="en-US" altLang="zh-CN" sz="1600" b="0" dirty="0" smtClean="0">
                <a:solidFill>
                  <a:srgbClr val="FF0000"/>
                </a:solidFill>
                <a:latin typeface="宋体" charset="0"/>
                <a:cs typeface="宋体" charset="0"/>
              </a:rPr>
              <a:t>Binder</a:t>
            </a:r>
            <a:r>
              <a:rPr lang="zh-CN" altLang="en-US" sz="1600" b="0" dirty="0" smtClean="0">
                <a:solidFill>
                  <a:srgbClr val="FF0000"/>
                </a:solidFill>
                <a:latin typeface="宋体" charset="0"/>
                <a:cs typeface="宋体" charset="0"/>
              </a:rPr>
              <a:t>来传递文件描述符</a:t>
            </a:r>
            <a:r>
              <a:rPr lang="zh-CN" altLang="en-US" sz="1600" b="0" dirty="0" smtClean="0">
                <a:latin typeface="宋体" charset="0"/>
                <a:cs typeface="宋体" charset="0"/>
              </a:rPr>
              <a:t>，让没有权限的进程也能够访问没有权限的文件</a:t>
            </a:r>
            <a:endParaRPr lang="zh-CN" altLang="en-US" sz="1600" b="0" dirty="0">
              <a:latin typeface="宋体" charset="0"/>
              <a:cs typeface="宋体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89555" y="5475287"/>
            <a:ext cx="10142968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1600" b="0" dirty="0" smtClean="0">
                <a:latin typeface="宋体" charset="0"/>
                <a:cs typeface="宋体" charset="0"/>
              </a:rPr>
              <a:t>PS: </a:t>
            </a:r>
            <a:r>
              <a:rPr lang="zh-CN" altLang="en-US" sz="1600" b="0" dirty="0" smtClean="0">
                <a:latin typeface="宋体" charset="0"/>
                <a:cs typeface="宋体" charset="0"/>
              </a:rPr>
              <a:t>平常我们使用的</a:t>
            </a:r>
            <a:r>
              <a:rPr lang="en-US" altLang="zh-CN" sz="1600" b="0" dirty="0" err="1" smtClean="0">
                <a:latin typeface="宋体" charset="0"/>
                <a:cs typeface="宋体" charset="0"/>
              </a:rPr>
              <a:t>FileProvider</a:t>
            </a:r>
            <a:r>
              <a:rPr lang="zh-CN" altLang="en-US" sz="1600" b="0" dirty="0" smtClean="0">
                <a:latin typeface="宋体" charset="0"/>
                <a:cs typeface="宋体" charset="0"/>
              </a:rPr>
              <a:t>将应用自己的私有数据分享给其他应用，用的也是这种方式</a:t>
            </a:r>
            <a:endParaRPr lang="zh-CN" altLang="en-US" sz="1600" b="0" dirty="0">
              <a:latin typeface="宋体" charset="0"/>
              <a:cs typeface="宋体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编号占位符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2E6D20B-5538-E34D-91FE-E40835CF0C83}" type="slidenum">
              <a:rPr kumimoji="1" lang="zh-CN" altLang="en-US" smtClean="0">
                <a:latin typeface="SimHei" charset="-122"/>
                <a:ea typeface="SimHei" charset="-122"/>
                <a:cs typeface="SimHei" charset="-122"/>
              </a:rPr>
            </a:fld>
            <a:endParaRPr kumimoji="1" lang="zh-CN" altLang="en-US" dirty="0"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5" name="标题 2"/>
          <p:cNvSpPr>
            <a:spLocks noGrp="1"/>
          </p:cNvSpPr>
          <p:nvPr>
            <p:ph type="title" idx="4294967295"/>
          </p:nvPr>
        </p:nvSpPr>
        <p:spPr>
          <a:xfrm>
            <a:off x="0" y="344805"/>
            <a:ext cx="5443855" cy="264795"/>
          </a:xfrm>
        </p:spPr>
        <p:txBody>
          <a:bodyPr/>
          <a:lstStyle/>
          <a:p>
            <a:pPr defTabSz="531495" hangingPunct="1">
              <a:lnSpc>
                <a:spcPct val="120000"/>
              </a:lnSpc>
            </a:pPr>
            <a:r>
              <a:rPr kumimoji="1" lang="zh-CN" altLang="en-US" dirty="0">
                <a:latin typeface="SimHei" charset="-122"/>
                <a:ea typeface="SimHei" charset="-122"/>
                <a:cs typeface="SimHei" charset="-122"/>
                <a:sym typeface="+mn-ea"/>
              </a:rPr>
              <a:t>核心实现原理</a:t>
            </a:r>
            <a:endParaRPr kumimoji="1" lang="zh-CN" altLang="en-US" dirty="0"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6" name="标题 2"/>
          <p:cNvSpPr txBox="1"/>
          <p:nvPr/>
        </p:nvSpPr>
        <p:spPr>
          <a:xfrm>
            <a:off x="603705" y="1161734"/>
            <a:ext cx="5443538" cy="26511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marR="0" indent="0" algn="l" defTabSz="51943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00" kern="1200">
                <a:solidFill>
                  <a:schemeClr val="tx1"/>
                </a:solidFill>
                <a:latin typeface="Microsoft YaHei" charset="-122"/>
                <a:ea typeface="Microsoft YaHei" charset="-122"/>
                <a:cs typeface="Microsoft YaHei" charset="-122"/>
              </a:defRPr>
            </a:lvl1pPr>
          </a:lstStyle>
          <a:p>
            <a:pPr defTabSz="531495" hangingPunct="1">
              <a:lnSpc>
                <a:spcPct val="120000"/>
              </a:lnSpc>
            </a:pPr>
            <a:endParaRPr kumimoji="1" lang="zh-CN" altLang="en-US" b="0" dirty="0"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4543700" y="2318522"/>
            <a:ext cx="1633853" cy="119761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317501" y="609446"/>
            <a:ext cx="9067165" cy="33718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zh-CN" altLang="en-US" sz="1600" dirty="0" smtClean="0">
                <a:sym typeface="+mn-ea"/>
              </a:rPr>
              <a:t>媒体文件</a:t>
            </a:r>
            <a:r>
              <a:rPr lang="zh-CN" altLang="en-US" sz="1600" dirty="0">
                <a:sym typeface="+mn-ea"/>
              </a:rPr>
              <a:t>的元信息</a:t>
            </a:r>
            <a:r>
              <a:rPr lang="en-US" altLang="zh-CN" sz="1600" dirty="0"/>
              <a:t>: </a:t>
            </a:r>
            <a:r>
              <a:rPr lang="zh-CN" altLang="en-US" sz="1600" dirty="0"/>
              <a:t>通过</a:t>
            </a:r>
            <a:r>
              <a:rPr lang="en-US" altLang="zh-CN" sz="1600" dirty="0" err="1"/>
              <a:t>ContentProvider</a:t>
            </a:r>
            <a:r>
              <a:rPr lang="zh-CN" altLang="en-US" sz="1600" dirty="0"/>
              <a:t>共享，删除，更新</a:t>
            </a:r>
            <a:endParaRPr lang="zh-CN" altLang="en-US" sz="1600" dirty="0"/>
          </a:p>
        </p:txBody>
      </p:sp>
      <p:sp>
        <p:nvSpPr>
          <p:cNvPr id="9" name="矩形 8"/>
          <p:cNvSpPr/>
          <p:nvPr/>
        </p:nvSpPr>
        <p:spPr>
          <a:xfrm>
            <a:off x="7883163" y="2566036"/>
            <a:ext cx="2543175" cy="4006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Google </a:t>
            </a:r>
            <a:r>
              <a:rPr lang="en-US" altLang="zh-CN" dirty="0" err="1" smtClean="0"/>
              <a:t>MediaProvider</a:t>
            </a:r>
            <a:endParaRPr lang="en-US" altLang="zh-CN" dirty="0"/>
          </a:p>
        </p:txBody>
      </p:sp>
      <p:sp>
        <p:nvSpPr>
          <p:cNvPr id="10" name="矩形 9"/>
          <p:cNvSpPr/>
          <p:nvPr/>
        </p:nvSpPr>
        <p:spPr>
          <a:xfrm>
            <a:off x="8430533" y="3035301"/>
            <a:ext cx="1454785" cy="4000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Database</a:t>
            </a:r>
            <a:endParaRPr lang="en-US" altLang="zh-CN"/>
          </a:p>
        </p:txBody>
      </p:sp>
      <p:sp>
        <p:nvSpPr>
          <p:cNvPr id="11" name="圆角矩形 10"/>
          <p:cNvSpPr/>
          <p:nvPr/>
        </p:nvSpPr>
        <p:spPr>
          <a:xfrm>
            <a:off x="4024903" y="4001136"/>
            <a:ext cx="3067685" cy="821690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/>
          </a:p>
          <a:p>
            <a:pPr algn="ctr"/>
            <a:r>
              <a:rPr lang="en-US" altLang="zh-CN"/>
              <a:t>SystemServer</a:t>
            </a:r>
            <a:endParaRPr lang="en-US" altLang="zh-CN"/>
          </a:p>
        </p:txBody>
      </p:sp>
      <p:sp>
        <p:nvSpPr>
          <p:cNvPr id="12" name="圆角矩形 11"/>
          <p:cNvSpPr/>
          <p:nvPr/>
        </p:nvSpPr>
        <p:spPr>
          <a:xfrm>
            <a:off x="4239533" y="4063366"/>
            <a:ext cx="2638425" cy="360045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ActivityManagerService</a:t>
            </a:r>
            <a:endParaRPr lang="en-US" altLang="zh-CN"/>
          </a:p>
        </p:txBody>
      </p:sp>
      <p:cxnSp>
        <p:nvCxnSpPr>
          <p:cNvPr id="13" name="肘形连接符 12"/>
          <p:cNvCxnSpPr>
            <a:stCxn id="9" idx="1"/>
            <a:endCxn id="12" idx="3"/>
          </p:cNvCxnSpPr>
          <p:nvPr/>
        </p:nvCxnSpPr>
        <p:spPr>
          <a:xfrm rot="10800000" flipV="1">
            <a:off x="6887483" y="2766696"/>
            <a:ext cx="1005205" cy="1477010"/>
          </a:xfrm>
          <a:prstGeom prst="bentConnector3">
            <a:avLst>
              <a:gd name="adj1" fmla="val 49968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圆角矩形 13"/>
          <p:cNvSpPr/>
          <p:nvPr/>
        </p:nvSpPr>
        <p:spPr>
          <a:xfrm>
            <a:off x="729253" y="2496186"/>
            <a:ext cx="2218055" cy="469900"/>
          </a:xfrm>
          <a:prstGeom prst="round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App</a:t>
            </a:r>
            <a:endParaRPr lang="en-US" altLang="zh-CN"/>
          </a:p>
        </p:txBody>
      </p:sp>
      <p:sp>
        <p:nvSpPr>
          <p:cNvPr id="15" name="文本框 14"/>
          <p:cNvSpPr txBox="1"/>
          <p:nvPr/>
        </p:nvSpPr>
        <p:spPr>
          <a:xfrm>
            <a:off x="6641738" y="3332256"/>
            <a:ext cx="147828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1.register  binder</a:t>
            </a:r>
            <a:endParaRPr lang="en-US" altLang="zh-CN" sz="1200" dirty="0"/>
          </a:p>
        </p:txBody>
      </p:sp>
      <p:cxnSp>
        <p:nvCxnSpPr>
          <p:cNvPr id="16" name="肘形连接符 15"/>
          <p:cNvCxnSpPr>
            <a:stCxn id="14" idx="2"/>
            <a:endCxn id="12" idx="1"/>
          </p:cNvCxnSpPr>
          <p:nvPr/>
        </p:nvCxnSpPr>
        <p:spPr>
          <a:xfrm rot="5400000" flipV="1">
            <a:off x="2409781" y="2404429"/>
            <a:ext cx="1277620" cy="2400935"/>
          </a:xfrm>
          <a:prstGeom prst="bentConnector2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圆角矩形 16"/>
          <p:cNvSpPr/>
          <p:nvPr/>
        </p:nvSpPr>
        <p:spPr>
          <a:xfrm>
            <a:off x="729253" y="2003426"/>
            <a:ext cx="2218055" cy="469900"/>
          </a:xfrm>
          <a:prstGeom prst="round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IContentProvider</a:t>
            </a:r>
            <a:endParaRPr lang="en-US" altLang="zh-CN"/>
          </a:p>
        </p:txBody>
      </p:sp>
      <p:sp>
        <p:nvSpPr>
          <p:cNvPr id="18" name="矩形 17"/>
          <p:cNvSpPr/>
          <p:nvPr/>
        </p:nvSpPr>
        <p:spPr>
          <a:xfrm>
            <a:off x="7883163" y="2051051"/>
            <a:ext cx="2543175" cy="4000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/>
              <a:t>ContentProviderNative</a:t>
            </a:r>
            <a:endParaRPr lang="en-US" altLang="zh-CN" dirty="0"/>
          </a:p>
        </p:txBody>
      </p:sp>
      <p:cxnSp>
        <p:nvCxnSpPr>
          <p:cNvPr id="19" name="直接箭头连接符 18"/>
          <p:cNvCxnSpPr/>
          <p:nvPr/>
        </p:nvCxnSpPr>
        <p:spPr>
          <a:xfrm>
            <a:off x="2947308" y="2232026"/>
            <a:ext cx="4935855" cy="12700"/>
          </a:xfrm>
          <a:prstGeom prst="straightConnector1">
            <a:avLst/>
          </a:prstGeom>
          <a:ln w="28575" cmpd="thickThin">
            <a:solidFill>
              <a:schemeClr val="accent1">
                <a:shade val="50000"/>
              </a:schemeClr>
            </a:solidFill>
            <a:prstDash val="sysDot"/>
            <a:headEnd type="arrow" w="med" len="med"/>
            <a:tailEnd type="arrow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0" name="文本框 19"/>
          <p:cNvSpPr txBox="1"/>
          <p:nvPr/>
        </p:nvSpPr>
        <p:spPr>
          <a:xfrm>
            <a:off x="1219473" y="3367406"/>
            <a:ext cx="61912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2.get</a:t>
            </a:r>
            <a:endParaRPr lang="en-US" altLang="zh-CN" sz="1200" dirty="0"/>
          </a:p>
        </p:txBody>
      </p:sp>
      <p:sp>
        <p:nvSpPr>
          <p:cNvPr id="21" name="文本框 20"/>
          <p:cNvSpPr txBox="1"/>
          <p:nvPr/>
        </p:nvSpPr>
        <p:spPr>
          <a:xfrm>
            <a:off x="4809628" y="2290446"/>
            <a:ext cx="123761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 smtClean="0"/>
              <a:t>3.binder call</a:t>
            </a:r>
            <a:endParaRPr lang="en-US" altLang="zh-CN" sz="1200" dirty="0"/>
          </a:p>
        </p:txBody>
      </p:sp>
      <p:sp>
        <p:nvSpPr>
          <p:cNvPr id="22" name="文本框 21"/>
          <p:cNvSpPr txBox="1"/>
          <p:nvPr/>
        </p:nvSpPr>
        <p:spPr>
          <a:xfrm>
            <a:off x="5029473" y="2640106"/>
            <a:ext cx="65151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/>
              <a:t>query</a:t>
            </a:r>
            <a:endParaRPr lang="en-US" altLang="zh-CN" sz="1200" b="1" dirty="0"/>
          </a:p>
          <a:p>
            <a:r>
              <a:rPr lang="en-US" altLang="zh-CN" sz="1200" b="0" dirty="0" err="1"/>
              <a:t>upate</a:t>
            </a:r>
            <a:endParaRPr lang="en-US" altLang="zh-CN" sz="1200" b="0" dirty="0"/>
          </a:p>
          <a:p>
            <a:r>
              <a:rPr lang="en-US" altLang="zh-CN" sz="1200" b="0" dirty="0"/>
              <a:t>delete</a:t>
            </a:r>
            <a:endParaRPr lang="en-US" altLang="zh-CN" sz="1200" b="0" dirty="0"/>
          </a:p>
          <a:p>
            <a:r>
              <a:rPr lang="en-US" altLang="zh-CN" sz="1200" b="0" dirty="0"/>
              <a:t>insert</a:t>
            </a:r>
            <a:endParaRPr lang="en-US" altLang="zh-CN" sz="1200" b="0" dirty="0"/>
          </a:p>
        </p:txBody>
      </p:sp>
      <p:sp>
        <p:nvSpPr>
          <p:cNvPr id="23" name="圆角矩形 22"/>
          <p:cNvSpPr/>
          <p:nvPr/>
        </p:nvSpPr>
        <p:spPr>
          <a:xfrm>
            <a:off x="729888" y="1467486"/>
            <a:ext cx="2217420" cy="469900"/>
          </a:xfrm>
          <a:prstGeom prst="round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CursorWindow</a:t>
            </a:r>
            <a:endParaRPr lang="en-US" altLang="zh-CN"/>
          </a:p>
        </p:txBody>
      </p:sp>
      <p:sp>
        <p:nvSpPr>
          <p:cNvPr id="24" name="圆角矩形 23"/>
          <p:cNvSpPr/>
          <p:nvPr/>
        </p:nvSpPr>
        <p:spPr>
          <a:xfrm>
            <a:off x="8048898" y="1467486"/>
            <a:ext cx="2217420" cy="469900"/>
          </a:xfrm>
          <a:prstGeom prst="round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/>
              <a:t>CursorWindow</a:t>
            </a:r>
            <a:endParaRPr lang="en-US" altLang="zh-CN" dirty="0"/>
          </a:p>
        </p:txBody>
      </p:sp>
      <p:cxnSp>
        <p:nvCxnSpPr>
          <p:cNvPr id="25" name="直接箭头连接符 24"/>
          <p:cNvCxnSpPr/>
          <p:nvPr/>
        </p:nvCxnSpPr>
        <p:spPr>
          <a:xfrm>
            <a:off x="2947308" y="1688466"/>
            <a:ext cx="5098415" cy="28575"/>
          </a:xfrm>
          <a:prstGeom prst="straightConnector1">
            <a:avLst/>
          </a:prstGeom>
          <a:ln w="28575" cmpd="thickThin">
            <a:solidFill>
              <a:schemeClr val="accent1">
                <a:shade val="50000"/>
              </a:schemeClr>
            </a:solidFill>
            <a:prstDash val="sysDot"/>
            <a:headEnd type="arrow" w="med" len="med"/>
            <a:tailEnd type="arrow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4901838" y="1179196"/>
            <a:ext cx="1313815" cy="4902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400" dirty="0"/>
              <a:t>move</a:t>
            </a:r>
            <a:br>
              <a:rPr lang="en-US" altLang="zh-CN" sz="1400" dirty="0"/>
            </a:br>
            <a:r>
              <a:rPr lang="en-US" altLang="zh-CN" sz="1400" dirty="0" err="1"/>
              <a:t>getXXX</a:t>
            </a:r>
            <a:endParaRPr lang="en-US" altLang="zh-CN" sz="1400" dirty="0"/>
          </a:p>
        </p:txBody>
      </p:sp>
      <p:sp>
        <p:nvSpPr>
          <p:cNvPr id="27" name="圆角矩形 26"/>
          <p:cNvSpPr/>
          <p:nvPr/>
        </p:nvSpPr>
        <p:spPr>
          <a:xfrm>
            <a:off x="4024903" y="5253356"/>
            <a:ext cx="3157220" cy="504825"/>
          </a:xfrm>
          <a:prstGeom prst="round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Ashmem(</a:t>
            </a:r>
            <a:r>
              <a:rPr lang="zh-CN" altLang="en-US">
                <a:sym typeface="+mn-ea"/>
              </a:rPr>
              <a:t>匿名共享内存</a:t>
            </a:r>
            <a:r>
              <a:rPr lang="en-US" altLang="zh-CN"/>
              <a:t>)</a:t>
            </a:r>
            <a:endParaRPr lang="en-US" altLang="zh-CN"/>
          </a:p>
        </p:txBody>
      </p:sp>
      <p:cxnSp>
        <p:nvCxnSpPr>
          <p:cNvPr id="28" name="肘形连接符 27"/>
          <p:cNvCxnSpPr>
            <a:stCxn id="23" idx="1"/>
            <a:endCxn id="27" idx="1"/>
          </p:cNvCxnSpPr>
          <p:nvPr/>
        </p:nvCxnSpPr>
        <p:spPr>
          <a:xfrm rot="10800000" flipH="1" flipV="1">
            <a:off x="729888" y="1702436"/>
            <a:ext cx="3295015" cy="3803650"/>
          </a:xfrm>
          <a:prstGeom prst="bentConnector3">
            <a:avLst>
              <a:gd name="adj1" fmla="val -7227"/>
            </a:avLst>
          </a:prstGeom>
          <a:ln w="28575" cmpd="sng">
            <a:solidFill>
              <a:schemeClr val="accent1">
                <a:shade val="50000"/>
              </a:schemeClr>
            </a:solidFill>
            <a:prstDash val="sysDot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肘形连接符 28"/>
          <p:cNvCxnSpPr>
            <a:stCxn id="24" idx="3"/>
            <a:endCxn id="27" idx="3"/>
          </p:cNvCxnSpPr>
          <p:nvPr/>
        </p:nvCxnSpPr>
        <p:spPr>
          <a:xfrm flipH="1">
            <a:off x="7182123" y="1702436"/>
            <a:ext cx="3084195" cy="3803650"/>
          </a:xfrm>
          <a:prstGeom prst="bentConnector3">
            <a:avLst>
              <a:gd name="adj1" fmla="val -7721"/>
            </a:avLst>
          </a:prstGeom>
          <a:ln w="28575" cmpd="sng">
            <a:solidFill>
              <a:schemeClr val="accent1">
                <a:shade val="50000"/>
              </a:schemeClr>
            </a:solidFill>
            <a:prstDash val="sysDot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圆角矩形 29"/>
          <p:cNvSpPr/>
          <p:nvPr/>
        </p:nvSpPr>
        <p:spPr>
          <a:xfrm>
            <a:off x="4024903" y="5753101"/>
            <a:ext cx="3157220" cy="504825"/>
          </a:xfrm>
          <a:prstGeom prst="round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Linux Kernel Space</a:t>
            </a:r>
            <a:endParaRPr lang="en-US" altLang="zh-CN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5" grpId="0"/>
      <p:bldP spid="20" grpId="0"/>
      <p:bldP spid="21" grpId="0"/>
      <p:bldP spid="22" grpId="0"/>
      <p:bldP spid="2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/>
          <p:cNvSpPr/>
          <p:nvPr/>
        </p:nvSpPr>
        <p:spPr>
          <a:xfrm>
            <a:off x="76200" y="1993689"/>
            <a:ext cx="11126788" cy="4357899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幻灯片编号占位符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2E6D20B-5538-E34D-91FE-E40835CF0C83}" type="slidenum">
              <a:rPr kumimoji="1" lang="zh-CN" altLang="en-US" smtClean="0">
                <a:latin typeface="SimHei" charset="-122"/>
                <a:ea typeface="SimHei" charset="-122"/>
                <a:cs typeface="SimHei" charset="-122"/>
              </a:rPr>
            </a:fld>
            <a:endParaRPr kumimoji="1" lang="zh-CN" altLang="en-US" dirty="0"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5" name="标题 2"/>
          <p:cNvSpPr>
            <a:spLocks noGrp="1"/>
          </p:cNvSpPr>
          <p:nvPr>
            <p:ph type="title" idx="4294967295"/>
          </p:nvPr>
        </p:nvSpPr>
        <p:spPr>
          <a:xfrm>
            <a:off x="0" y="344805"/>
            <a:ext cx="5443855" cy="264795"/>
          </a:xfrm>
        </p:spPr>
        <p:txBody>
          <a:bodyPr/>
          <a:lstStyle/>
          <a:p>
            <a:pPr defTabSz="531495" hangingPunct="1">
              <a:lnSpc>
                <a:spcPct val="120000"/>
              </a:lnSpc>
            </a:pPr>
            <a:r>
              <a:rPr kumimoji="1" lang="zh-CN" altLang="en-US" dirty="0">
                <a:latin typeface="SimHei" charset="-122"/>
                <a:ea typeface="SimHei" charset="-122"/>
                <a:cs typeface="SimHei" charset="-122"/>
                <a:sym typeface="+mn-ea"/>
              </a:rPr>
              <a:t>核心实现原理</a:t>
            </a:r>
            <a:endParaRPr kumimoji="1" lang="zh-CN" altLang="en-US" dirty="0"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317501" y="673219"/>
            <a:ext cx="9067165" cy="33718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zh-CN" altLang="en-US" sz="1600" dirty="0" smtClean="0">
                <a:sym typeface="+mn-ea"/>
              </a:rPr>
              <a:t>媒体文件内容访问</a:t>
            </a:r>
            <a:r>
              <a:rPr lang="en-US" altLang="zh-CN" sz="1600" dirty="0" smtClean="0"/>
              <a:t>: </a:t>
            </a:r>
            <a:r>
              <a:rPr lang="zh-CN" altLang="en-US" sz="1600" dirty="0" smtClean="0">
                <a:solidFill>
                  <a:srgbClr val="FF0000"/>
                </a:solidFill>
              </a:rPr>
              <a:t>通过</a:t>
            </a:r>
            <a:r>
              <a:rPr lang="en-US" altLang="zh-CN" sz="1600" dirty="0" smtClean="0">
                <a:solidFill>
                  <a:srgbClr val="FF0000"/>
                </a:solidFill>
              </a:rPr>
              <a:t>binder</a:t>
            </a:r>
            <a:r>
              <a:rPr lang="zh-CN" altLang="en-US" sz="1600" dirty="0" smtClean="0">
                <a:solidFill>
                  <a:srgbClr val="FF0000"/>
                </a:solidFill>
              </a:rPr>
              <a:t>传递文件描述符</a:t>
            </a:r>
            <a:r>
              <a:rPr lang="en-US" altLang="zh-CN" sz="1600" dirty="0" smtClean="0">
                <a:solidFill>
                  <a:srgbClr val="FF0000"/>
                </a:solidFill>
              </a:rPr>
              <a:t> </a:t>
            </a:r>
            <a:endParaRPr lang="zh-CN" altLang="en-US" sz="1600" b="0" dirty="0">
              <a:solidFill>
                <a:srgbClr val="FF0000"/>
              </a:solidFill>
              <a:latin typeface="宋体" charset="0"/>
              <a:cs typeface="宋体" charset="0"/>
            </a:endParaRPr>
          </a:p>
        </p:txBody>
      </p:sp>
      <p:graphicFrame>
        <p:nvGraphicFramePr>
          <p:cNvPr id="7" name="表格 6"/>
          <p:cNvGraphicFramePr>
            <a:graphicFrameLocks noGrp="1"/>
          </p:cNvGraphicFramePr>
          <p:nvPr/>
        </p:nvGraphicFramePr>
        <p:xfrm>
          <a:off x="762048" y="3548738"/>
          <a:ext cx="1315356" cy="24261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15356"/>
              </a:tblGrid>
              <a:tr h="300716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</a:t>
                      </a:r>
                      <a:endParaRPr lang="zh-CN" altLang="en-US" sz="1400" dirty="0"/>
                    </a:p>
                  </a:txBody>
                  <a:tcPr/>
                </a:tc>
              </a:tr>
              <a:tr h="300716">
                <a:tc>
                  <a:txBody>
                    <a:bodyPr/>
                    <a:lstStyle/>
                    <a:p>
                      <a:pPr marL="0" algn="ctr" defTabSz="398780" rtl="0" eaLnBrk="1" latinLnBrk="0" hangingPunct="1"/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endParaRPr lang="zh-CN" altLang="en-US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300716">
                <a:tc>
                  <a:txBody>
                    <a:bodyPr/>
                    <a:lstStyle/>
                    <a:p>
                      <a:pPr marL="0" algn="ctr" defTabSz="398780" rtl="0" eaLnBrk="1" latinLnBrk="0" hangingPunct="1"/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endParaRPr lang="zh-CN" altLang="en-US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300716">
                <a:tc>
                  <a:txBody>
                    <a:bodyPr/>
                    <a:lstStyle/>
                    <a:p>
                      <a:pPr marL="0" algn="ctr" defTabSz="398780" rtl="0" eaLnBrk="1" latinLnBrk="0" hangingPunct="1"/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….</a:t>
                      </a:r>
                      <a:endParaRPr lang="zh-CN" altLang="en-US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300716">
                <a:tc>
                  <a:txBody>
                    <a:bodyPr/>
                    <a:lstStyle/>
                    <a:p>
                      <a:pPr marL="0" algn="ctr" defTabSz="398780" rtl="0" eaLnBrk="1" latinLnBrk="0" hangingPunct="1"/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fd</a:t>
                      </a:r>
                      <a:endParaRPr lang="zh-CN" altLang="en-US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300716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</a:tr>
              <a:tr h="300716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</a:tr>
              <a:tr h="300716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文本框 7"/>
          <p:cNvSpPr txBox="1"/>
          <p:nvPr/>
        </p:nvSpPr>
        <p:spPr>
          <a:xfrm>
            <a:off x="423094" y="3146566"/>
            <a:ext cx="1993265" cy="3219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File descriptor table</a:t>
            </a:r>
            <a:endParaRPr lang="zh-CN" altLang="en-US" dirty="0"/>
          </a:p>
        </p:txBody>
      </p:sp>
      <p:sp>
        <p:nvSpPr>
          <p:cNvPr id="9" name="圆角矩形 8"/>
          <p:cNvSpPr/>
          <p:nvPr/>
        </p:nvSpPr>
        <p:spPr>
          <a:xfrm>
            <a:off x="859994" y="1389534"/>
            <a:ext cx="1054147" cy="402771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Process A</a:t>
            </a:r>
            <a:endParaRPr lang="zh-CN" altLang="en-US" dirty="0"/>
          </a:p>
        </p:txBody>
      </p:sp>
      <p:graphicFrame>
        <p:nvGraphicFramePr>
          <p:cNvPr id="10" name="表格 9"/>
          <p:cNvGraphicFramePr>
            <a:graphicFrameLocks noGrp="1"/>
          </p:cNvGraphicFramePr>
          <p:nvPr/>
        </p:nvGraphicFramePr>
        <p:xfrm>
          <a:off x="3168471" y="4099454"/>
          <a:ext cx="4451529" cy="117355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83843"/>
                <a:gridCol w="1483843"/>
                <a:gridCol w="1483843"/>
              </a:tblGrid>
              <a:tr h="289585">
                <a:tc>
                  <a:txBody>
                    <a:bodyPr/>
                    <a:lstStyle/>
                    <a:p>
                      <a:pPr marL="0" algn="ctr" defTabSz="398780" rtl="0" eaLnBrk="1" latinLnBrk="0" hangingPunct="1"/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File 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offect</a:t>
                      </a:r>
                      <a:endParaRPr lang="zh-CN" altLang="en-US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398780" rtl="0" eaLnBrk="1" latinLnBrk="0" hangingPunct="1"/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Status flag </a:t>
                      </a:r>
                      <a:endParaRPr lang="zh-CN" altLang="en-US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398780" rtl="0" eaLnBrk="1" latinLnBrk="0" hangingPunct="1"/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Inode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ptr</a:t>
                      </a:r>
                      <a:endParaRPr lang="zh-CN" altLang="en-US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289585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….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….</a:t>
                      </a:r>
                      <a:endParaRPr lang="zh-CN" altLang="en-US" dirty="0"/>
                    </a:p>
                  </a:txBody>
                  <a:tcPr/>
                </a:tc>
              </a:tr>
              <a:tr h="289585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…</a:t>
                      </a:r>
                      <a:endParaRPr lang="zh-CN" altLang="en-US" dirty="0"/>
                    </a:p>
                  </a:txBody>
                  <a:tcPr>
                    <a:solidFill>
                      <a:schemeClr val="tx1">
                        <a:alpha val="19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…</a:t>
                      </a:r>
                      <a:endParaRPr lang="zh-CN" altLang="en-US" dirty="0"/>
                    </a:p>
                  </a:txBody>
                  <a:tcPr>
                    <a:solidFill>
                      <a:schemeClr val="tx1">
                        <a:alpha val="19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…..</a:t>
                      </a:r>
                      <a:endParaRPr lang="zh-CN" altLang="en-US" dirty="0"/>
                    </a:p>
                  </a:txBody>
                  <a:tcPr>
                    <a:solidFill>
                      <a:schemeClr val="tx1">
                        <a:alpha val="19000"/>
                      </a:schemeClr>
                    </a:solidFill>
                  </a:tcPr>
                </a:tc>
              </a:tr>
              <a:tr h="289585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文本框 10"/>
          <p:cNvSpPr txBox="1"/>
          <p:nvPr/>
        </p:nvSpPr>
        <p:spPr>
          <a:xfrm>
            <a:off x="4742954" y="3308148"/>
            <a:ext cx="1496060" cy="3219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Open file table</a:t>
            </a:r>
            <a:endParaRPr lang="zh-CN" altLang="en-US" dirty="0"/>
          </a:p>
        </p:txBody>
      </p:sp>
      <p:sp>
        <p:nvSpPr>
          <p:cNvPr id="12" name="文本框 11"/>
          <p:cNvSpPr txBox="1"/>
          <p:nvPr/>
        </p:nvSpPr>
        <p:spPr>
          <a:xfrm>
            <a:off x="4752480" y="3689058"/>
            <a:ext cx="1477010" cy="3219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(System Wide)</a:t>
            </a:r>
            <a:endParaRPr lang="zh-CN" altLang="en-US" dirty="0"/>
          </a:p>
        </p:txBody>
      </p:sp>
      <p:graphicFrame>
        <p:nvGraphicFramePr>
          <p:cNvPr id="13" name="表格 12"/>
          <p:cNvGraphicFramePr>
            <a:graphicFrameLocks noGrp="1"/>
          </p:cNvGraphicFramePr>
          <p:nvPr/>
        </p:nvGraphicFramePr>
        <p:xfrm>
          <a:off x="9196362" y="3586828"/>
          <a:ext cx="1315356" cy="26476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15356"/>
              </a:tblGrid>
              <a:tr h="300716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</a:t>
                      </a:r>
                      <a:endParaRPr lang="zh-CN" altLang="en-US" sz="1400" dirty="0"/>
                    </a:p>
                  </a:txBody>
                  <a:tcPr/>
                </a:tc>
              </a:tr>
              <a:tr h="300716">
                <a:tc>
                  <a:txBody>
                    <a:bodyPr/>
                    <a:lstStyle/>
                    <a:p>
                      <a:pPr marL="0" algn="ctr" defTabSz="398780" rtl="0" eaLnBrk="1" latinLnBrk="0" hangingPunct="1"/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endParaRPr lang="zh-CN" altLang="en-US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300716">
                <a:tc>
                  <a:txBody>
                    <a:bodyPr/>
                    <a:lstStyle/>
                    <a:p>
                      <a:pPr marL="0" algn="ctr" defTabSz="398780" rtl="0" eaLnBrk="1" latinLnBrk="0" hangingPunct="1"/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endParaRPr lang="zh-CN" altLang="en-US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300716">
                <a:tc>
                  <a:txBody>
                    <a:bodyPr/>
                    <a:lstStyle/>
                    <a:p>
                      <a:pPr marL="0" algn="ctr" defTabSz="398780" rtl="0" eaLnBrk="1" latinLnBrk="0" hangingPunct="1"/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  <a:endParaRPr lang="zh-CN" altLang="en-US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300716">
                <a:tc>
                  <a:txBody>
                    <a:bodyPr/>
                    <a:lstStyle/>
                    <a:p>
                      <a:pPr marL="0" marR="0" indent="0" algn="ctr" defTabSz="3987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….</a:t>
                      </a:r>
                      <a:endParaRPr lang="zh-CN" altLang="en-US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300716">
                <a:tc>
                  <a:txBody>
                    <a:bodyPr/>
                    <a:lstStyle/>
                    <a:p>
                      <a:pPr marL="0" marR="0" indent="0" algn="ctr" defTabSz="3987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8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….</a:t>
                      </a:r>
                      <a:endParaRPr lang="zh-CN" altLang="en-US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300716">
                <a:tc>
                  <a:txBody>
                    <a:bodyPr/>
                    <a:lstStyle/>
                    <a:p>
                      <a:pPr marL="0" marR="0" indent="0" algn="ctr" defTabSz="3987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….</a:t>
                      </a:r>
                      <a:endParaRPr lang="zh-CN" altLang="en-US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300716">
                <a:tc>
                  <a:txBody>
                    <a:bodyPr/>
                    <a:lstStyle/>
                    <a:p>
                      <a:pPr marL="0" marR="0" indent="0" algn="ctr" defTabSz="3987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fd</a:t>
                      </a:r>
                      <a:endParaRPr lang="zh-CN" altLang="en-US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ctr" defTabSz="398780" rtl="0" eaLnBrk="1" latinLnBrk="0" hangingPunct="1"/>
                      <a:endParaRPr lang="zh-CN" altLang="en-US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4" name="文本框 13"/>
          <p:cNvSpPr txBox="1"/>
          <p:nvPr/>
        </p:nvSpPr>
        <p:spPr>
          <a:xfrm>
            <a:off x="8857408" y="3184656"/>
            <a:ext cx="1993265" cy="3219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File descriptor table</a:t>
            </a:r>
            <a:endParaRPr lang="zh-CN" altLang="en-US" dirty="0"/>
          </a:p>
        </p:txBody>
      </p:sp>
      <p:sp>
        <p:nvSpPr>
          <p:cNvPr id="15" name="圆角矩形 14"/>
          <p:cNvSpPr/>
          <p:nvPr/>
        </p:nvSpPr>
        <p:spPr>
          <a:xfrm>
            <a:off x="8755696" y="1389533"/>
            <a:ext cx="2285999" cy="402771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 smtClean="0"/>
              <a:t>MediaProvider</a:t>
            </a:r>
            <a:r>
              <a:rPr lang="en-US" altLang="zh-CN" dirty="0" smtClean="0"/>
              <a:t> Process</a:t>
            </a:r>
            <a:endParaRPr lang="zh-CN" altLang="en-US" dirty="0"/>
          </a:p>
        </p:txBody>
      </p:sp>
      <p:cxnSp>
        <p:nvCxnSpPr>
          <p:cNvPr id="17" name="直接箭头连接符 16"/>
          <p:cNvCxnSpPr>
            <a:stCxn id="9" idx="3"/>
            <a:endCxn id="15" idx="1"/>
          </p:cNvCxnSpPr>
          <p:nvPr/>
        </p:nvCxnSpPr>
        <p:spPr>
          <a:xfrm flipV="1">
            <a:off x="1914141" y="1590919"/>
            <a:ext cx="6841555" cy="1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本框 25"/>
          <p:cNvSpPr txBox="1"/>
          <p:nvPr/>
        </p:nvSpPr>
        <p:spPr>
          <a:xfrm>
            <a:off x="4696372" y="5979724"/>
            <a:ext cx="1395730" cy="3219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Kernel Space</a:t>
            </a:r>
            <a:endParaRPr lang="zh-CN" altLang="en-US" dirty="0"/>
          </a:p>
        </p:txBody>
      </p:sp>
      <p:sp>
        <p:nvSpPr>
          <p:cNvPr id="29" name="矩形 28"/>
          <p:cNvSpPr/>
          <p:nvPr/>
        </p:nvSpPr>
        <p:spPr>
          <a:xfrm>
            <a:off x="4677299" y="1163915"/>
            <a:ext cx="2256981" cy="29220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n-US" altLang="zh-CN" dirty="0" smtClean="0"/>
              <a:t>1.openFile(binder call)</a:t>
            </a:r>
            <a:endParaRPr lang="zh-CN" altLang="en-US" dirty="0"/>
          </a:p>
        </p:txBody>
      </p:sp>
      <p:cxnSp>
        <p:nvCxnSpPr>
          <p:cNvPr id="31" name="直接箭头连接符 30"/>
          <p:cNvCxnSpPr>
            <a:stCxn id="15" idx="2"/>
          </p:cNvCxnSpPr>
          <p:nvPr/>
        </p:nvCxnSpPr>
        <p:spPr>
          <a:xfrm>
            <a:off x="9898696" y="1792304"/>
            <a:ext cx="0" cy="13542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矩形 34"/>
          <p:cNvSpPr/>
          <p:nvPr/>
        </p:nvSpPr>
        <p:spPr>
          <a:xfrm>
            <a:off x="8860577" y="2068405"/>
            <a:ext cx="2095688" cy="70581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n-US" altLang="zh-CN" dirty="0" smtClean="0"/>
              <a:t>2.open (system call)</a:t>
            </a:r>
            <a:endParaRPr lang="en-US" altLang="zh-CN" dirty="0" smtClean="0"/>
          </a:p>
          <a:p>
            <a:r>
              <a:rPr lang="en-US" altLang="zh-CN" sz="1200" b="0" dirty="0" smtClean="0"/>
              <a:t>     permission check</a:t>
            </a:r>
            <a:endParaRPr lang="zh-CN" altLang="en-US" sz="1200" b="0" dirty="0"/>
          </a:p>
        </p:txBody>
      </p:sp>
      <p:cxnSp>
        <p:nvCxnSpPr>
          <p:cNvPr id="38" name="直接箭头连接符 37"/>
          <p:cNvCxnSpPr/>
          <p:nvPr/>
        </p:nvCxnSpPr>
        <p:spPr>
          <a:xfrm flipH="1" flipV="1">
            <a:off x="7620000" y="4855029"/>
            <a:ext cx="1576362" cy="11198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矩形 38"/>
          <p:cNvSpPr/>
          <p:nvPr/>
        </p:nvSpPr>
        <p:spPr>
          <a:xfrm>
            <a:off x="7753213" y="5386139"/>
            <a:ext cx="1309935" cy="29220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n-US" altLang="zh-CN" dirty="0" smtClean="0"/>
              <a:t>3.Create file</a:t>
            </a:r>
            <a:endParaRPr lang="zh-CN" altLang="en-US" dirty="0"/>
          </a:p>
        </p:txBody>
      </p:sp>
      <p:cxnSp>
        <p:nvCxnSpPr>
          <p:cNvPr id="42" name="直接箭头连接符 41"/>
          <p:cNvCxnSpPr/>
          <p:nvPr/>
        </p:nvCxnSpPr>
        <p:spPr>
          <a:xfrm flipH="1">
            <a:off x="2077404" y="4855029"/>
            <a:ext cx="1091067" cy="870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/>
          <p:cNvSpPr/>
          <p:nvPr/>
        </p:nvSpPr>
        <p:spPr>
          <a:xfrm>
            <a:off x="2228832" y="5328291"/>
            <a:ext cx="1309935" cy="29220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n-US" altLang="zh-CN" dirty="0" smtClean="0"/>
              <a:t>4.install </a:t>
            </a:r>
            <a:r>
              <a:rPr lang="en-US" altLang="zh-CN" dirty="0" err="1" smtClean="0"/>
              <a:t>fd</a:t>
            </a:r>
            <a:endParaRPr lang="zh-CN" altLang="en-US" dirty="0"/>
          </a:p>
        </p:txBody>
      </p:sp>
      <p:sp>
        <p:nvSpPr>
          <p:cNvPr id="46" name="矩形 45"/>
          <p:cNvSpPr/>
          <p:nvPr/>
        </p:nvSpPr>
        <p:spPr>
          <a:xfrm>
            <a:off x="4677299" y="1664698"/>
            <a:ext cx="2256981" cy="29220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n-US" altLang="zh-CN" dirty="0" smtClean="0"/>
              <a:t>5.get </a:t>
            </a:r>
            <a:r>
              <a:rPr lang="en-US" altLang="zh-CN" dirty="0" err="1" smtClean="0"/>
              <a:t>fd</a:t>
            </a:r>
            <a:r>
              <a:rPr lang="en-US" altLang="zh-CN" dirty="0" smtClean="0"/>
              <a:t>(binder return)</a:t>
            </a:r>
            <a:endParaRPr lang="zh-CN" altLang="en-US" dirty="0"/>
          </a:p>
        </p:txBody>
      </p:sp>
      <p:cxnSp>
        <p:nvCxnSpPr>
          <p:cNvPr id="48" name="直接箭头连接符 47"/>
          <p:cNvCxnSpPr>
            <a:stCxn id="9" idx="2"/>
          </p:cNvCxnSpPr>
          <p:nvPr/>
        </p:nvCxnSpPr>
        <p:spPr>
          <a:xfrm flipH="1">
            <a:off x="1387067" y="1792305"/>
            <a:ext cx="1" cy="981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矩形 48"/>
          <p:cNvSpPr/>
          <p:nvPr/>
        </p:nvSpPr>
        <p:spPr>
          <a:xfrm>
            <a:off x="653439" y="2114212"/>
            <a:ext cx="1934554" cy="40175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n-US" altLang="zh-CN" dirty="0" smtClean="0"/>
              <a:t>6.fd -&gt;  read/write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编号占位符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2E6D20B-5538-E34D-91FE-E40835CF0C83}" type="slidenum">
              <a:rPr kumimoji="1" lang="zh-CN" altLang="en-US" smtClean="0">
                <a:latin typeface="SimHei" charset="-122"/>
                <a:ea typeface="SimHei" charset="-122"/>
                <a:cs typeface="SimHei" charset="-122"/>
              </a:rPr>
            </a:fld>
            <a:endParaRPr kumimoji="1" lang="zh-CN" altLang="en-US" dirty="0"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5" name="标题 2"/>
          <p:cNvSpPr>
            <a:spLocks noGrp="1"/>
          </p:cNvSpPr>
          <p:nvPr>
            <p:ph type="title" idx="4294967295"/>
          </p:nvPr>
        </p:nvSpPr>
        <p:spPr>
          <a:xfrm>
            <a:off x="0" y="344805"/>
            <a:ext cx="5443855" cy="264795"/>
          </a:xfrm>
        </p:spPr>
        <p:txBody>
          <a:bodyPr/>
          <a:lstStyle/>
          <a:p>
            <a:pPr defTabSz="531495" hangingPunct="1">
              <a:lnSpc>
                <a:spcPct val="120000"/>
              </a:lnSpc>
            </a:pPr>
            <a:r>
              <a:rPr kumimoji="1" lang="zh-CN" altLang="en-US" dirty="0">
                <a:latin typeface="SimHei" charset="-122"/>
                <a:ea typeface="SimHei" charset="-122"/>
                <a:cs typeface="SimHei" charset="-122"/>
              </a:rPr>
              <a:t>补充 </a:t>
            </a:r>
            <a:r>
              <a:rPr kumimoji="1" lang="en-US" altLang="zh-CN" dirty="0">
                <a:latin typeface="SimHei" charset="-122"/>
                <a:ea typeface="SimHei" charset="-122"/>
                <a:cs typeface="SimHei" charset="-122"/>
              </a:rPr>
              <a:t>&amp; </a:t>
            </a:r>
            <a:r>
              <a:rPr kumimoji="1" lang="zh-CN" altLang="en-US" dirty="0">
                <a:latin typeface="SimHei" charset="-122"/>
                <a:ea typeface="SimHei" charset="-122"/>
                <a:cs typeface="SimHei" charset="-122"/>
              </a:rPr>
              <a:t>注意事项</a:t>
            </a:r>
            <a:endParaRPr kumimoji="1" lang="zh-CN" altLang="en-US" dirty="0"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61723" y="1997220"/>
            <a:ext cx="2985135" cy="30670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400" dirty="0"/>
              <a:t>2.TargetSDK 30 </a:t>
            </a:r>
            <a:r>
              <a:rPr lang="zh-CN" altLang="en-US" sz="1400" dirty="0"/>
              <a:t>强制执行分区存储</a:t>
            </a:r>
            <a:endParaRPr lang="zh-CN" altLang="en-US" sz="1400" dirty="0"/>
          </a:p>
        </p:txBody>
      </p:sp>
      <p:sp>
        <p:nvSpPr>
          <p:cNvPr id="7" name="矩形 6"/>
          <p:cNvSpPr/>
          <p:nvPr/>
        </p:nvSpPr>
        <p:spPr>
          <a:xfrm>
            <a:off x="317501" y="1065884"/>
            <a:ext cx="10252528" cy="3067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endParaRPr lang="zh-CN" altLang="en-US" sz="1400" b="0" dirty="0">
              <a:latin typeface="宋体" charset="0"/>
              <a:cs typeface="宋体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491671" y="1373661"/>
            <a:ext cx="10459357" cy="521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zh-CN" altLang="en-US" sz="1400" b="0" dirty="0" smtClean="0">
                <a:latin typeface="宋体" charset="0"/>
                <a:cs typeface="宋体" charset="0"/>
              </a:rPr>
              <a:t>涉及用户隐私，默认情况下访问不到，需要申</a:t>
            </a:r>
            <a:r>
              <a:rPr lang="en-US" altLang="zh-CN" sz="1400" b="0" dirty="0" smtClean="0">
                <a:latin typeface="宋体" charset="0"/>
                <a:cs typeface="宋体" charset="0"/>
              </a:rPr>
              <a:t>ACCESS_MEDIA_LOCATION</a:t>
            </a:r>
            <a:r>
              <a:rPr lang="zh-CN" altLang="en-US" sz="1400" b="0" dirty="0" smtClean="0">
                <a:latin typeface="宋体" charset="0"/>
                <a:cs typeface="宋体" charset="0"/>
              </a:rPr>
              <a:t>权限</a:t>
            </a:r>
            <a:r>
              <a:rPr lang="en-US" altLang="zh-CN" sz="1400" b="0" dirty="0" smtClean="0">
                <a:latin typeface="宋体" charset="0"/>
                <a:cs typeface="宋体" charset="0"/>
              </a:rPr>
              <a:t>(dangerous)</a:t>
            </a:r>
            <a:r>
              <a:rPr lang="zh-CN" altLang="en-US" sz="1400" b="0" dirty="0" smtClean="0">
                <a:latin typeface="宋体" charset="0"/>
                <a:cs typeface="宋体" charset="0"/>
              </a:rPr>
              <a:t>，并调用</a:t>
            </a:r>
            <a:r>
              <a:rPr lang="en-US" altLang="zh-CN" sz="1400" b="0" dirty="0" smtClean="0">
                <a:latin typeface="宋体" charset="0"/>
                <a:cs typeface="宋体" charset="0"/>
              </a:rPr>
              <a:t>Uri </a:t>
            </a:r>
            <a:r>
              <a:rPr lang="en-US" altLang="zh-CN" sz="1400" b="0" dirty="0" err="1" smtClean="0">
                <a:latin typeface="宋体" charset="0"/>
                <a:cs typeface="宋体" charset="0"/>
              </a:rPr>
              <a:t>photoUri</a:t>
            </a:r>
            <a:r>
              <a:rPr lang="en-US" altLang="zh-CN" sz="1400" b="0" dirty="0" smtClean="0">
                <a:latin typeface="宋体" charset="0"/>
                <a:cs typeface="宋体" charset="0"/>
              </a:rPr>
              <a:t> </a:t>
            </a:r>
            <a:r>
              <a:rPr lang="en-US" altLang="zh-CN" sz="1400" b="0" dirty="0">
                <a:latin typeface="宋体" charset="0"/>
                <a:cs typeface="宋体" charset="0"/>
              </a:rPr>
              <a:t>= </a:t>
            </a:r>
            <a:r>
              <a:rPr lang="en-US" altLang="zh-CN" sz="1400" b="0" dirty="0" err="1">
                <a:latin typeface="宋体" charset="0"/>
                <a:cs typeface="宋体" charset="0"/>
              </a:rPr>
              <a:t>MediaStore.setRequireOriginal</a:t>
            </a:r>
            <a:r>
              <a:rPr lang="en-US" altLang="zh-CN" sz="1400" b="0" dirty="0">
                <a:latin typeface="宋体" charset="0"/>
                <a:cs typeface="宋体" charset="0"/>
              </a:rPr>
              <a:t>(</a:t>
            </a:r>
            <a:r>
              <a:rPr lang="en-US" altLang="zh-CN" sz="1400" b="0" dirty="0" err="1">
                <a:latin typeface="宋体" charset="0"/>
                <a:cs typeface="宋体" charset="0"/>
              </a:rPr>
              <a:t>photoUri</a:t>
            </a:r>
            <a:r>
              <a:rPr lang="en-US" altLang="zh-CN" sz="1400" b="0" dirty="0" smtClean="0">
                <a:latin typeface="宋体" charset="0"/>
                <a:cs typeface="宋体" charset="0"/>
              </a:rPr>
              <a:t>)</a:t>
            </a:r>
            <a:r>
              <a:rPr lang="zh-CN" altLang="en-US" sz="1400" b="0" dirty="0" smtClean="0">
                <a:latin typeface="宋体" charset="0"/>
                <a:cs typeface="宋体" charset="0"/>
              </a:rPr>
              <a:t>转换访问</a:t>
            </a:r>
            <a:endParaRPr lang="zh-CN" altLang="en-US" sz="1400" b="0" dirty="0">
              <a:latin typeface="宋体" charset="0"/>
              <a:cs typeface="宋体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438595" y="976779"/>
            <a:ext cx="2301875" cy="30670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400" dirty="0" smtClean="0"/>
              <a:t>1.</a:t>
            </a:r>
            <a:r>
              <a:rPr lang="zh-CN" altLang="en-US" sz="1400" dirty="0" smtClean="0"/>
              <a:t>照片</a:t>
            </a:r>
            <a:r>
              <a:rPr lang="en-US" altLang="zh-CN" sz="1400" dirty="0" err="1"/>
              <a:t>Exif</a:t>
            </a:r>
            <a:r>
              <a:rPr lang="en-US" altLang="zh-CN" sz="1400" dirty="0"/>
              <a:t> </a:t>
            </a:r>
            <a:r>
              <a:rPr lang="zh-CN" altLang="en-US" sz="1400" dirty="0"/>
              <a:t>元数据位置信息</a:t>
            </a:r>
            <a:endParaRPr lang="zh-CN" altLang="en-US" sz="1400" dirty="0"/>
          </a:p>
        </p:txBody>
      </p:sp>
      <p:sp>
        <p:nvSpPr>
          <p:cNvPr id="13" name="矩形 12"/>
          <p:cNvSpPr/>
          <p:nvPr/>
        </p:nvSpPr>
        <p:spPr>
          <a:xfrm>
            <a:off x="491670" y="2310014"/>
            <a:ext cx="10459357" cy="521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zh-CN" altLang="en-US" sz="1400" b="0" dirty="0" smtClean="0">
                <a:latin typeface="宋体" charset="0"/>
                <a:cs typeface="宋体" charset="0"/>
              </a:rPr>
              <a:t>为了给开发者更多的调试缓冲时间，以</a:t>
            </a:r>
            <a:r>
              <a:rPr lang="en-US" altLang="zh-CN" sz="1400" b="0" dirty="0" err="1" smtClean="0">
                <a:latin typeface="宋体" charset="0"/>
                <a:cs typeface="宋体" charset="0"/>
              </a:rPr>
              <a:t>targetSDK</a:t>
            </a:r>
            <a:r>
              <a:rPr lang="zh-CN" altLang="en-US" sz="1400" b="0" dirty="0" smtClean="0">
                <a:latin typeface="宋体" charset="0"/>
                <a:cs typeface="宋体" charset="0"/>
              </a:rPr>
              <a:t>设置为</a:t>
            </a:r>
            <a:r>
              <a:rPr lang="en-US" altLang="zh-CN" sz="1400" b="0" dirty="0" smtClean="0">
                <a:latin typeface="宋体" charset="0"/>
                <a:cs typeface="宋体" charset="0"/>
              </a:rPr>
              <a:t>29</a:t>
            </a:r>
            <a:r>
              <a:rPr lang="zh-CN" altLang="en-US" sz="1400" b="0" dirty="0" smtClean="0">
                <a:latin typeface="宋体" charset="0"/>
                <a:cs typeface="宋体" charset="0"/>
              </a:rPr>
              <a:t>仍然可以使用</a:t>
            </a:r>
            <a:r>
              <a:rPr lang="en-US" altLang="zh-CN" sz="1400" b="0" dirty="0" err="1" smtClean="0">
                <a:latin typeface="宋体" charset="0"/>
                <a:cs typeface="宋体" charset="0"/>
              </a:rPr>
              <a:t>requestLegacyExternalStorage</a:t>
            </a:r>
            <a:r>
              <a:rPr lang="zh-CN" altLang="en-US" sz="1400" b="0" dirty="0" smtClean="0">
                <a:latin typeface="宋体" charset="0"/>
                <a:cs typeface="宋体" charset="0"/>
              </a:rPr>
              <a:t>，关闭分区存储，</a:t>
            </a:r>
            <a:br>
              <a:rPr lang="en-US" altLang="zh-CN" sz="1400" b="0" dirty="0" smtClean="0">
                <a:latin typeface="宋体" charset="0"/>
                <a:cs typeface="宋体" charset="0"/>
              </a:rPr>
            </a:br>
            <a:r>
              <a:rPr lang="zh-CN" altLang="en-US" sz="1400" b="0" dirty="0" smtClean="0">
                <a:latin typeface="宋体" charset="0"/>
                <a:cs typeface="宋体" charset="0"/>
              </a:rPr>
              <a:t>如果设置</a:t>
            </a:r>
            <a:r>
              <a:rPr lang="en-US" altLang="zh-CN" sz="1400" b="0" dirty="0" smtClean="0">
                <a:latin typeface="宋体" charset="0"/>
                <a:cs typeface="宋体" charset="0"/>
              </a:rPr>
              <a:t>target </a:t>
            </a:r>
            <a:r>
              <a:rPr lang="en-US" altLang="zh-CN" sz="1400" b="0" dirty="0" err="1" smtClean="0">
                <a:latin typeface="宋体" charset="0"/>
                <a:cs typeface="宋体" charset="0"/>
              </a:rPr>
              <a:t>sdk</a:t>
            </a:r>
            <a:r>
              <a:rPr lang="en-US" altLang="zh-CN" sz="1400" b="0" dirty="0" smtClean="0">
                <a:latin typeface="宋体" charset="0"/>
                <a:cs typeface="宋体" charset="0"/>
              </a:rPr>
              <a:t> 30</a:t>
            </a:r>
            <a:r>
              <a:rPr lang="zh-CN" altLang="en-US" sz="1400" b="0" dirty="0" smtClean="0">
                <a:latin typeface="宋体" charset="0"/>
                <a:cs typeface="宋体" charset="0"/>
              </a:rPr>
              <a:t>，系统将会忽略这个选项。</a:t>
            </a:r>
            <a:endParaRPr lang="zh-CN" altLang="en-US" sz="1400" b="0" dirty="0">
              <a:latin typeface="宋体" charset="0"/>
              <a:cs typeface="宋体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19619" y="640542"/>
            <a:ext cx="565150" cy="3219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zh-CN" altLang="en-US" dirty="0">
                <a:latin typeface="SimHei" charset="-122"/>
                <a:ea typeface="SimHei" charset="-122"/>
                <a:cs typeface="SimHei" charset="-122"/>
              </a:rPr>
              <a:t>补充</a:t>
            </a:r>
            <a:endParaRPr lang="zh-CN" altLang="en-US" dirty="0"/>
          </a:p>
        </p:txBody>
      </p:sp>
      <p:sp>
        <p:nvSpPr>
          <p:cNvPr id="16" name="矩形 15"/>
          <p:cNvSpPr/>
          <p:nvPr/>
        </p:nvSpPr>
        <p:spPr>
          <a:xfrm>
            <a:off x="396420" y="2841855"/>
            <a:ext cx="1937385" cy="30670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400" dirty="0" smtClean="0"/>
              <a:t>3.</a:t>
            </a:r>
            <a:r>
              <a:rPr lang="zh-CN" altLang="en-US" sz="1400" dirty="0"/>
              <a:t>所有文件的访问权限</a:t>
            </a:r>
            <a:endParaRPr lang="zh-CN" altLang="en-US" sz="1400" dirty="0"/>
          </a:p>
        </p:txBody>
      </p:sp>
      <p:sp>
        <p:nvSpPr>
          <p:cNvPr id="17" name="矩形 16"/>
          <p:cNvSpPr/>
          <p:nvPr/>
        </p:nvSpPr>
        <p:spPr>
          <a:xfrm>
            <a:off x="491670" y="3156439"/>
            <a:ext cx="10648729" cy="9531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zh-CN" altLang="en-US" sz="1400" b="0" dirty="0" smtClean="0">
                <a:latin typeface="宋体" charset="0"/>
                <a:cs typeface="宋体" charset="0"/>
              </a:rPr>
              <a:t>绝大多数</a:t>
            </a:r>
            <a:r>
              <a:rPr lang="zh-CN" altLang="en-US" sz="1400" b="0" dirty="0">
                <a:latin typeface="宋体" charset="0"/>
                <a:cs typeface="宋体" charset="0"/>
              </a:rPr>
              <a:t>应用利用分区存储的特性可以满足业务需求，但是某些应用</a:t>
            </a:r>
            <a:r>
              <a:rPr lang="zh-CN" altLang="en-US" sz="1400" b="0" dirty="0" smtClean="0">
                <a:latin typeface="宋体" charset="0"/>
                <a:cs typeface="宋体" charset="0"/>
              </a:rPr>
              <a:t>如文件管理器</a:t>
            </a:r>
            <a:r>
              <a:rPr lang="zh-CN" altLang="en-US" sz="1400" b="0" dirty="0">
                <a:latin typeface="宋体" charset="0"/>
                <a:cs typeface="宋体" charset="0"/>
              </a:rPr>
              <a:t>，备份和恢复，防病毒应用是需要管访问理手机上的所有文件，使用存储访问框架选择</a:t>
            </a:r>
            <a:r>
              <a:rPr lang="zh-CN" altLang="en-US" sz="1400" b="0" dirty="0" smtClean="0">
                <a:latin typeface="宋体" charset="0"/>
                <a:cs typeface="宋体" charset="0"/>
              </a:rPr>
              <a:t>器，</a:t>
            </a:r>
            <a:r>
              <a:rPr lang="zh-CN" altLang="en-US" sz="1400" b="0" dirty="0">
                <a:latin typeface="宋体" charset="0"/>
                <a:cs typeface="宋体" charset="0"/>
              </a:rPr>
              <a:t>需要大量用户选择操作，用户体验糟糕。为了解决这个问题，可以</a:t>
            </a:r>
            <a:r>
              <a:rPr lang="zh-CN" altLang="en-US" sz="1400" b="0" dirty="0" smtClean="0">
                <a:latin typeface="宋体" charset="0"/>
                <a:cs typeface="宋体" charset="0"/>
              </a:rPr>
              <a:t>申请MANAGE</a:t>
            </a:r>
            <a:r>
              <a:rPr lang="zh-CN" altLang="en-US" sz="1400" b="0" dirty="0">
                <a:latin typeface="宋体" charset="0"/>
                <a:cs typeface="宋体" charset="0"/>
              </a:rPr>
              <a:t>_EXTERNAL_STORAGE权限</a:t>
            </a:r>
            <a:r>
              <a:rPr lang="zh-CN" altLang="en-US" sz="1400" b="0" dirty="0" smtClean="0">
                <a:latin typeface="宋体" charset="0"/>
                <a:cs typeface="宋体" charset="0"/>
              </a:rPr>
              <a:t>，并使用 </a:t>
            </a:r>
            <a:r>
              <a:rPr lang="zh-CN" altLang="en-US" sz="1400" b="0" dirty="0">
                <a:latin typeface="宋体" charset="0"/>
                <a:cs typeface="宋体" charset="0"/>
              </a:rPr>
              <a:t>ACTION_MANAGE_ALL_FILES_ACCESS_PERMISSION  intent 引导用户授予该</a:t>
            </a:r>
            <a:r>
              <a:rPr lang="zh-CN" altLang="en-US" sz="1400" b="0" dirty="0" smtClean="0">
                <a:latin typeface="宋体" charset="0"/>
                <a:cs typeface="宋体" charset="0"/>
              </a:rPr>
              <a:t>选项。通过</a:t>
            </a:r>
            <a:r>
              <a:rPr lang="zh-CN" altLang="en-US" sz="1400" b="0" dirty="0">
                <a:latin typeface="宋体" charset="0"/>
                <a:cs typeface="宋体" charset="0"/>
              </a:rPr>
              <a:t>Environment.isExternalStorageManager()检测是否获得。</a:t>
            </a:r>
            <a:endParaRPr lang="zh-CN" altLang="en-US" sz="1400" b="0" dirty="0">
              <a:latin typeface="宋体" charset="0"/>
              <a:cs typeface="宋体" charset="0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454700" y="4155522"/>
            <a:ext cx="10412645" cy="6451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zh-CN" altLang="en-US" sz="1200" b="0" dirty="0">
                <a:latin typeface="宋体" charset="0"/>
                <a:cs typeface="宋体" charset="0"/>
              </a:rPr>
              <a:t>&lt;permission android:name="android.permission.MANAGE_EXTERNAL_STORAGE"</a:t>
            </a:r>
            <a:endParaRPr lang="zh-CN" altLang="en-US" sz="1200" b="0" dirty="0">
              <a:latin typeface="宋体" charset="0"/>
              <a:cs typeface="宋体" charset="0"/>
            </a:endParaRPr>
          </a:p>
          <a:p>
            <a:pPr algn="l"/>
            <a:r>
              <a:rPr lang="zh-CN" altLang="en-US" sz="1200" b="0" dirty="0" smtClean="0">
                <a:latin typeface="宋体" charset="0"/>
                <a:cs typeface="宋体" charset="0"/>
              </a:rPr>
              <a:t>            android</a:t>
            </a:r>
            <a:r>
              <a:rPr lang="zh-CN" altLang="en-US" sz="1200" b="0" dirty="0">
                <a:latin typeface="宋体" charset="0"/>
                <a:cs typeface="宋体" charset="0"/>
              </a:rPr>
              <a:t>:permissionGroup="android.permission-group.UNDEFINED"</a:t>
            </a:r>
            <a:endParaRPr lang="zh-CN" altLang="en-US" sz="1200" b="0" dirty="0">
              <a:latin typeface="宋体" charset="0"/>
              <a:cs typeface="宋体" charset="0"/>
            </a:endParaRPr>
          </a:p>
          <a:p>
            <a:pPr algn="l"/>
            <a:r>
              <a:rPr lang="zh-CN" altLang="en-US" sz="1200" b="0" dirty="0" smtClean="0">
                <a:latin typeface="宋体" charset="0"/>
                <a:cs typeface="宋体" charset="0"/>
              </a:rPr>
              <a:t>            android</a:t>
            </a:r>
            <a:r>
              <a:rPr lang="zh-CN" altLang="en-US" sz="1200" b="0" dirty="0">
                <a:latin typeface="宋体" charset="0"/>
                <a:cs typeface="宋体" charset="0"/>
              </a:rPr>
              <a:t>:protectionLevel="signature|appop|preinstalled" /&gt;</a:t>
            </a:r>
            <a:endParaRPr lang="zh-CN" altLang="en-US" sz="1200" b="0" dirty="0">
              <a:latin typeface="宋体" charset="0"/>
              <a:cs typeface="宋体" charset="0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491669" y="4839390"/>
            <a:ext cx="10459357" cy="3067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zh-CN" altLang="en-US" sz="1400" b="0" dirty="0" smtClean="0">
                <a:latin typeface="宋体" charset="0"/>
                <a:cs typeface="宋体" charset="0"/>
              </a:rPr>
              <a:t>如果是平台签名、预装应用则不需要引导用户授权。</a:t>
            </a:r>
            <a:endParaRPr lang="zh-CN" altLang="en-US" sz="1400" b="0" dirty="0">
              <a:latin typeface="宋体" charset="0"/>
              <a:cs typeface="宋体" charset="0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397522" y="5222920"/>
            <a:ext cx="2294255" cy="30670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400" dirty="0" smtClean="0"/>
              <a:t>4.</a:t>
            </a:r>
            <a:r>
              <a:rPr lang="zh-CN" altLang="en-US" sz="1400" dirty="0" smtClean="0"/>
              <a:t>请勿</a:t>
            </a:r>
            <a:r>
              <a:rPr lang="zh-CN" altLang="en-US" sz="1400" dirty="0"/>
              <a:t>反复打开和关闭文件</a:t>
            </a:r>
            <a:endParaRPr lang="zh-CN" altLang="en-US" sz="1400" dirty="0"/>
          </a:p>
        </p:txBody>
      </p:sp>
      <p:sp>
        <p:nvSpPr>
          <p:cNvPr id="21" name="矩形 20"/>
          <p:cNvSpPr/>
          <p:nvPr/>
        </p:nvSpPr>
        <p:spPr>
          <a:xfrm>
            <a:off x="454700" y="5606450"/>
            <a:ext cx="9737968" cy="3067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zh-CN" altLang="en-US" sz="1400" b="0" dirty="0">
                <a:latin typeface="宋体" charset="0"/>
                <a:cs typeface="宋体" charset="0"/>
              </a:rPr>
              <a:t>请勿多次打开和关闭同一文件。对于系统来说，打开</a:t>
            </a:r>
            <a:r>
              <a:rPr lang="zh-CN" altLang="en-US" sz="1400" b="0" dirty="0" smtClean="0">
                <a:latin typeface="宋体" charset="0"/>
                <a:cs typeface="宋体" charset="0"/>
              </a:rPr>
              <a:t>文件并首次读取文件的成本</a:t>
            </a:r>
            <a:r>
              <a:rPr lang="zh-CN" altLang="en-US" sz="1400" b="0" dirty="0">
                <a:latin typeface="宋体" charset="0"/>
                <a:cs typeface="宋体" charset="0"/>
              </a:rPr>
              <a:t>很高。</a:t>
            </a:r>
            <a:endParaRPr lang="zh-CN" altLang="en-US" sz="1400" b="0" dirty="0">
              <a:latin typeface="宋体" charset="0"/>
              <a:cs typeface="宋体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  <p:bldP spid="17" grpId="0"/>
      <p:bldP spid="18" grpId="0"/>
      <p:bldP spid="19" grpId="0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编号占位符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2E6D20B-5538-E34D-91FE-E40835CF0C83}" type="slidenum">
              <a:rPr kumimoji="1" lang="zh-CN" altLang="en-US" smtClean="0">
                <a:latin typeface="SimHei" charset="-122"/>
                <a:ea typeface="SimHei" charset="-122"/>
                <a:cs typeface="SimHei" charset="-122"/>
              </a:rPr>
            </a:fld>
            <a:endParaRPr kumimoji="1" lang="zh-CN" altLang="en-US" dirty="0"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5" name="标题 2"/>
          <p:cNvSpPr>
            <a:spLocks noGrp="1"/>
          </p:cNvSpPr>
          <p:nvPr>
            <p:ph type="title" idx="4294967295"/>
          </p:nvPr>
        </p:nvSpPr>
        <p:spPr>
          <a:xfrm>
            <a:off x="0" y="344805"/>
            <a:ext cx="5443855" cy="264795"/>
          </a:xfrm>
        </p:spPr>
        <p:txBody>
          <a:bodyPr/>
          <a:lstStyle/>
          <a:p>
            <a:pPr defTabSz="531495" hangingPunct="1">
              <a:lnSpc>
                <a:spcPct val="120000"/>
              </a:lnSpc>
            </a:pPr>
            <a:r>
              <a:rPr kumimoji="1" lang="zh-CN" altLang="en-US" dirty="0">
                <a:latin typeface="SimHei" charset="-122"/>
                <a:ea typeface="SimHei" charset="-122"/>
                <a:cs typeface="SimHei" charset="-122"/>
              </a:rPr>
              <a:t>补充 </a:t>
            </a:r>
            <a:r>
              <a:rPr kumimoji="1" lang="en-US" altLang="zh-CN" dirty="0">
                <a:latin typeface="SimHei" charset="-122"/>
                <a:ea typeface="SimHei" charset="-122"/>
                <a:cs typeface="SimHei" charset="-122"/>
              </a:rPr>
              <a:t>&amp; </a:t>
            </a:r>
            <a:r>
              <a:rPr kumimoji="1" lang="zh-CN" altLang="en-US" dirty="0">
                <a:latin typeface="SimHei" charset="-122"/>
                <a:ea typeface="SimHei" charset="-122"/>
                <a:cs typeface="SimHei" charset="-122"/>
              </a:rPr>
              <a:t>注意事项</a:t>
            </a:r>
            <a:endParaRPr kumimoji="1" lang="zh-CN" altLang="en-US" dirty="0">
              <a:latin typeface="SimHei" charset="-122"/>
              <a:ea typeface="SimHei" charset="-122"/>
              <a:cs typeface="SimHei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319641" y="2987035"/>
            <a:ext cx="9154886" cy="3219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zh-CN" altLang="en-US" b="0" u="sng" dirty="0" smtClean="0"/>
              <a:t>概览</a:t>
            </a:r>
            <a:r>
              <a:rPr lang="en-US" altLang="zh-CN" b="0" u="sng" dirty="0" smtClean="0"/>
              <a:t>: </a:t>
            </a:r>
            <a:r>
              <a:rPr lang="zh-CN" altLang="en-US" b="0" u="sng" dirty="0" smtClean="0"/>
              <a:t>https</a:t>
            </a:r>
            <a:r>
              <a:rPr lang="zh-CN" altLang="en-US" b="0" u="sng" dirty="0"/>
              <a:t>://developer.android.google.cn/training/data-storage#scoped-storage</a:t>
            </a:r>
            <a:endParaRPr lang="zh-CN" altLang="en-US" b="0" u="sng" dirty="0"/>
          </a:p>
        </p:txBody>
      </p:sp>
      <p:sp>
        <p:nvSpPr>
          <p:cNvPr id="22" name="矩形 21"/>
          <p:cNvSpPr/>
          <p:nvPr/>
        </p:nvSpPr>
        <p:spPr>
          <a:xfrm>
            <a:off x="399198" y="2668390"/>
            <a:ext cx="2045335" cy="3219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smtClean="0"/>
              <a:t>Android</a:t>
            </a:r>
            <a:r>
              <a:rPr lang="zh-CN" altLang="en-US" dirty="0" smtClean="0"/>
              <a:t>官网链接介绍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12700" cap="flat">
          <a:noFill/>
          <a:miter lim="400000"/>
        </a:ln>
      </a:spPr>
      <a:bodyPr rot="0" spcFirstLastPara="1" vertOverflow="overflow" horzOverflow="overflow" vert="horz" wrap="square" lIns="0" tIns="0" rIns="0" bIns="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30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Helvetica Neue" panose="02000503000000020004"/>
            <a:ea typeface="Helvetica Neue" panose="02000503000000020004"/>
            <a:cs typeface="Helvetica Neue" panose="02000503000000020004"/>
            <a:sym typeface="Helvetica Neue" panose="02000503000000020004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办公室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办公室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办公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5355</Words>
  <Application>WPS 表格</Application>
  <PresentationFormat>自定义</PresentationFormat>
  <Paragraphs>480</Paragraphs>
  <Slides>23</Slides>
  <Notes>23</Notes>
  <HiddenSlides>0</HiddenSlides>
  <MMClips>0</MMClips>
  <ScaleCrop>false</ScaleCrop>
  <HeadingPairs>
    <vt:vector size="6" baseType="variant">
      <vt:variant>
        <vt:lpstr>已用的字体</vt:lpstr>
      </vt:variant>
      <vt:variant>
        <vt:i4>26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50" baseType="lpstr">
      <vt:lpstr>Arial</vt:lpstr>
      <vt:lpstr>方正书宋_GBK</vt:lpstr>
      <vt:lpstr>Wingdings</vt:lpstr>
      <vt:lpstr>Helvetica Neue</vt:lpstr>
      <vt:lpstr>Microsoft YaHei</vt:lpstr>
      <vt:lpstr>汉仪旗黑KW</vt:lpstr>
      <vt:lpstr>Arial</vt:lpstr>
      <vt:lpstr>Helvetica Neue Medium</vt:lpstr>
      <vt:lpstr>FZLanTingHei-M-GBK</vt:lpstr>
      <vt:lpstr>Thonburi</vt:lpstr>
      <vt:lpstr>SimHei</vt:lpstr>
      <vt:lpstr>汉仪中黑KW</vt:lpstr>
      <vt:lpstr>FZLanTingHeiS-R-GB</vt:lpstr>
      <vt:lpstr>Helvetica</vt:lpstr>
      <vt:lpstr>FZLanTingHeiS-DB1-GBK</vt:lpstr>
      <vt:lpstr>宋体</vt:lpstr>
      <vt:lpstr>汉仪书宋二KW</vt:lpstr>
      <vt:lpstr>微软雅黑</vt:lpstr>
      <vt:lpstr>宋体</vt:lpstr>
      <vt:lpstr>Arial Unicode MS</vt:lpstr>
      <vt:lpstr>苹方-简</vt:lpstr>
      <vt:lpstr>DengXian</vt:lpstr>
      <vt:lpstr>汉仪中等线KW</vt:lpstr>
      <vt:lpstr>Calibri</vt:lpstr>
      <vt:lpstr>Helvetica Neue</vt:lpstr>
      <vt:lpstr>Calibri Light</vt:lpstr>
      <vt:lpstr>自定义设计方案</vt:lpstr>
      <vt:lpstr>PowerPoint 演示文稿</vt:lpstr>
      <vt:lpstr>PowerPoint 演示文稿</vt:lpstr>
      <vt:lpstr>PowerPoint 演示文稿</vt:lpstr>
      <vt:lpstr>分区存储介绍</vt:lpstr>
      <vt:lpstr>分区存储介绍</vt:lpstr>
      <vt:lpstr>分区存储介绍</vt:lpstr>
      <vt:lpstr>分区存储介绍</vt:lpstr>
      <vt:lpstr>相关API使用</vt:lpstr>
      <vt:lpstr>相关API使用</vt:lpstr>
      <vt:lpstr>相关API使用</vt:lpstr>
      <vt:lpstr>相关API使用</vt:lpstr>
      <vt:lpstr>相关API使用</vt:lpstr>
      <vt:lpstr>相关API使用</vt:lpstr>
      <vt:lpstr>相关API使用</vt:lpstr>
      <vt:lpstr>相关API使用</vt:lpstr>
      <vt:lpstr>相关API使用</vt:lpstr>
      <vt:lpstr>核心实现原理</vt:lpstr>
      <vt:lpstr>核心实现原理</vt:lpstr>
      <vt:lpstr>核心实现原理</vt:lpstr>
      <vt:lpstr>核心实现原理</vt:lpstr>
      <vt:lpstr>核心实现原理</vt:lpstr>
      <vt:lpstr>补充 &amp; 注意事项</vt:lpstr>
      <vt:lpstr>补充 &amp; 注意事项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wujingchao</cp:lastModifiedBy>
  <cp:revision>904</cp:revision>
  <cp:lastPrinted>2020-09-19T06:19:54Z</cp:lastPrinted>
  <dcterms:created xsi:type="dcterms:W3CDTF">2020-09-19T06:19:54Z</dcterms:created>
  <dcterms:modified xsi:type="dcterms:W3CDTF">2020-09-19T06:19:54Z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2052-2.0.0.3163</vt:lpwstr>
  </property>
</Properties>
</file>